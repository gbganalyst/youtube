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Roboto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obotoMono-regular.fntdata"/><Relationship Id="rId21" Type="http://schemas.openxmlformats.org/officeDocument/2006/relationships/slide" Target="slides/slide16.xml"/><Relationship Id="rId24" Type="http://schemas.openxmlformats.org/officeDocument/2006/relationships/font" Target="fonts/RobotoMono-italic.fntdata"/><Relationship Id="rId23" Type="http://schemas.openxmlformats.org/officeDocument/2006/relationships/font" Target="fonts/RobotoMono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Roboto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56aec1bea5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56aec1bea5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56aec1bea5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56aec1bea5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56aec1bea5_0_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56aec1bea5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56aec1bea5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56aec1bea5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56aec1bea5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56aec1bea5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56aec1bea5_0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56aec1bea5_0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56aec1bea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56aec1bea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56aec1bea5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56aec1bea5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56aec1bea5_0_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56aec1bea5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56aec1bea5_0_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56aec1bea5_0_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56aec1bea5_0_1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56aec1bea5_0_1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56aec1bea5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56aec1bea5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56aec1bea5_0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56aec1bea5_0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56aec1bea5_0_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" name="Google Shape;139;g356aec1bea5_0_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56aec1bea5_0_9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56aec1bea5_0_9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cran.r-project.org/" TargetMode="External"/><Relationship Id="rId4" Type="http://schemas.openxmlformats.org/officeDocument/2006/relationships/hyperlink" Target="https://posit.co/download/rstudio-desktop" TargetMode="External"/><Relationship Id="rId5" Type="http://schemas.openxmlformats.org/officeDocument/2006/relationships/hyperlink" Target="https://quarto.org/docs/download" TargetMode="External"/><Relationship Id="rId6" Type="http://schemas.openxmlformats.org/officeDocument/2006/relationships/hyperlink" Target="https://posit.cloud/content/10257752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quarto.org/docs/gallery/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hyperlink" Target="https://quarto.org/docs/reference/formats/html.html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hyperlink" Target="https://quarto.org/" TargetMode="External"/><Relationship Id="rId4" Type="http://schemas.openxmlformats.org/officeDocument/2006/relationships/hyperlink" Target="https://quarto.org/" TargetMode="External"/><Relationship Id="rId5" Type="http://schemas.openxmlformats.org/officeDocument/2006/relationships/hyperlink" Target="https://quarto.org/docs/presentations/" TargetMode="External"/><Relationship Id="rId6" Type="http://schemas.openxmlformats.org/officeDocument/2006/relationships/hyperlink" Target="https://emilhvitfeldt.com/blog.html#category=slidecraft%20101" TargetMode="External"/><Relationship Id="rId7" Type="http://schemas.openxmlformats.org/officeDocument/2006/relationships/hyperlink" Target="https://emilhvitfeldt.com/blog.html#category=slidecraft%20101" TargetMode="External"/><Relationship Id="rId8" Type="http://schemas.openxmlformats.org/officeDocument/2006/relationships/hyperlink" Target="https://ivelasq-branded-quarto.share.connect.posit.cloud/#/section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Understanding Quarto Documents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About me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Community Manager, rOpenSci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Developer Educator, Austral University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Board of Directors, R-Ladies and The Carpentries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/>
              <a:t>- Co-founder and co-char LatinR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/>
              <a:t>-   R Markdown user for 7 years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800"/>
              <a:t>-   Quarto user for ~2 years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63" name="Google Shape;63;p1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About me                                   About you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Community Manager, rOpenSci  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Developer Educator, Austral University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Board of Directors, R-Ladies and The Carpentries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Co-founder and co-char LatinR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  R Markdown user for 7 years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/>
              <a:t>-   Quarto user for ~2 years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solidFill>
            <a:srgbClr val="F3F7F2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222222"/>
                </a:solidFill>
                <a:highlight>
                  <a:srgbClr val="F3F7F2"/>
                </a:highlight>
              </a:rPr>
              <a:t>Please share on the chat:</a:t>
            </a:r>
            <a:endParaRPr sz="2700">
              <a:solidFill>
                <a:srgbClr val="222222"/>
              </a:solidFill>
              <a:highlight>
                <a:srgbClr val="F3F7F2"/>
              </a:highlight>
            </a:endParaRPr>
          </a:p>
          <a:p>
            <a:pPr indent="-400050" lvl="0" marL="596900" rtl="0" algn="l">
              <a:spcBef>
                <a:spcPts val="1100"/>
              </a:spcBef>
              <a:spcAft>
                <a:spcPts val="0"/>
              </a:spcAft>
              <a:buClr>
                <a:srgbClr val="222222"/>
              </a:buClr>
              <a:buSzPts val="2700"/>
              <a:buChar char="●"/>
            </a:pPr>
            <a:r>
              <a:rPr lang="es" sz="2700">
                <a:solidFill>
                  <a:srgbClr val="222222"/>
                </a:solidFill>
                <a:highlight>
                  <a:srgbClr val="F3F7F2"/>
                </a:highlight>
              </a:rPr>
              <a:t>What do you use R for?</a:t>
            </a:r>
            <a:endParaRPr sz="2700">
              <a:solidFill>
                <a:srgbClr val="222222"/>
              </a:solidFill>
              <a:highlight>
                <a:srgbClr val="F3F7F2"/>
              </a:highlight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This event is for someone who 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42603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knows some R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has worked in RStudio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wants to learn about Quarto</a:t>
            </a:r>
            <a:endParaRPr sz="24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 sz="2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39285"/>
              <a:buFont typeface="Arial"/>
              <a:buNone/>
            </a:pPr>
            <a:r>
              <a:rPr lang="es"/>
              <a:t>This event is for someone who 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knows some R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has worked in RStudio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wants to learn about Quarto</a:t>
            </a:r>
            <a:endParaRPr sz="2400"/>
          </a:p>
        </p:txBody>
      </p:sp>
      <p:sp>
        <p:nvSpPr>
          <p:cNvPr id="83" name="Google Shape;83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0740"/>
              <a:buFont typeface="Arial"/>
              <a:buNone/>
            </a:pPr>
            <a:r>
              <a:rPr lang="es" sz="2700">
                <a:solidFill>
                  <a:srgbClr val="222222"/>
                </a:solidFill>
              </a:rPr>
              <a:t>I’ll </a:t>
            </a:r>
            <a:r>
              <a:rPr b="1" lang="es" sz="2700">
                <a:solidFill>
                  <a:srgbClr val="222222"/>
                </a:solidFill>
              </a:rPr>
              <a:t>teach</a:t>
            </a:r>
            <a:r>
              <a:rPr lang="es" sz="2700">
                <a:solidFill>
                  <a:srgbClr val="222222"/>
                </a:solidFill>
              </a:rPr>
              <a:t> you</a:t>
            </a:r>
            <a:endParaRPr sz="2700">
              <a:solidFill>
                <a:srgbClr val="222222"/>
              </a:solidFill>
            </a:endParaRPr>
          </a:p>
          <a:p>
            <a:pPr indent="-361473" lvl="0" marL="596900" rtl="0" algn="l">
              <a:spcBef>
                <a:spcPts val="11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What is Quarto</a:t>
            </a:r>
            <a:endParaRPr sz="2700">
              <a:solidFill>
                <a:srgbClr val="222222"/>
              </a:solidFill>
            </a:endParaRPr>
          </a:p>
          <a:p>
            <a:pPr indent="-361473" lvl="0" marL="5969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Components of a Quarto Document</a:t>
            </a:r>
            <a:endParaRPr sz="2700">
              <a:solidFill>
                <a:srgbClr val="222222"/>
              </a:solidFill>
            </a:endParaRPr>
          </a:p>
          <a:p>
            <a:pPr indent="-361473" lvl="0" marL="5969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Type of documents and their setup</a:t>
            </a:r>
            <a:endParaRPr sz="2700">
              <a:solidFill>
                <a:srgbClr val="222222"/>
              </a:solidFill>
            </a:endParaRPr>
          </a:p>
          <a:p>
            <a:pPr indent="-361473" lvl="0" marL="5969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Specific features: markdown, </a:t>
            </a:r>
            <a:r>
              <a:rPr lang="es" sz="2700">
                <a:solidFill>
                  <a:srgbClr val="222222"/>
                </a:solidFill>
              </a:rPr>
              <a:t>code blocks, plots and</a:t>
            </a:r>
            <a:r>
              <a:rPr lang="es" sz="2700">
                <a:solidFill>
                  <a:srgbClr val="222222"/>
                </a:solidFill>
              </a:rPr>
              <a:t> figures, callouts, </a:t>
            </a:r>
            <a:r>
              <a:rPr lang="es" sz="2700">
                <a:solidFill>
                  <a:srgbClr val="222222"/>
                </a:solidFill>
              </a:rPr>
              <a:t>tables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Hello Quarto!</a:t>
            </a:r>
            <a:endParaRPr/>
          </a:p>
        </p:txBody>
      </p:sp>
      <p:sp>
        <p:nvSpPr>
          <p:cNvPr id="89" name="Google Shape;89;p1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is this all about?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ctrTitle"/>
          </p:nvPr>
        </p:nvSpPr>
        <p:spPr>
          <a:xfrm>
            <a:off x="311700" y="1321900"/>
            <a:ext cx="8520600" cy="33297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900">
                <a:solidFill>
                  <a:srgbClr val="222222"/>
                </a:solidFill>
              </a:rPr>
              <a:t>Download and install the </a:t>
            </a:r>
            <a:r>
              <a:rPr b="1" lang="es" sz="1900">
                <a:solidFill>
                  <a:srgbClr val="222222"/>
                </a:solidFill>
              </a:rPr>
              <a:t>latest versions</a:t>
            </a:r>
            <a:r>
              <a:rPr lang="es" sz="1900">
                <a:solidFill>
                  <a:srgbClr val="222222"/>
                </a:solidFill>
              </a:rPr>
              <a:t> of R, RStudio, and Quarto:</a:t>
            </a:r>
            <a:endParaRPr sz="1900">
              <a:solidFill>
                <a:srgbClr val="222222"/>
              </a:solidFill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s" sz="1900">
                <a:solidFill>
                  <a:srgbClr val="222222"/>
                </a:solidFill>
              </a:rPr>
              <a:t>R: </a:t>
            </a:r>
            <a:r>
              <a:rPr lang="es" sz="1900">
                <a:solidFill>
                  <a:srgbClr val="22222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https://cran.r-project.org</a:t>
            </a:r>
            <a:endParaRPr sz="1900">
              <a:solidFill>
                <a:srgbClr val="222222"/>
              </a:solidFill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s" sz="1900">
                <a:solidFill>
                  <a:srgbClr val="222222"/>
                </a:solidFill>
              </a:rPr>
              <a:t>RStudio: </a:t>
            </a:r>
            <a:r>
              <a:rPr lang="es" sz="1900">
                <a:solidFill>
                  <a:srgbClr val="222222"/>
                </a:solidFill>
                <a:uFill>
                  <a:noFill/>
                </a:u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https://posit.co/download/rstudio-desktop</a:t>
            </a:r>
            <a:endParaRPr sz="1900">
              <a:solidFill>
                <a:srgbClr val="222222"/>
              </a:solidFill>
            </a:endParaRPr>
          </a:p>
          <a:p>
            <a:pPr indent="-349250" lvl="0" marL="5969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1900"/>
              <a:buChar char="●"/>
            </a:pPr>
            <a:r>
              <a:rPr lang="es" sz="1900">
                <a:solidFill>
                  <a:srgbClr val="222222"/>
                </a:solidFill>
              </a:rPr>
              <a:t>Quarto: </a:t>
            </a:r>
            <a:r>
              <a:rPr lang="es" sz="1900">
                <a:solidFill>
                  <a:srgbClr val="222222"/>
                </a:solidFill>
                <a:uFill>
                  <a:noFill/>
                </a:u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https://quarto.org/docs/download</a:t>
            </a:r>
            <a:endParaRPr sz="1900">
              <a:solidFill>
                <a:srgbClr val="222222"/>
              </a:solidFill>
            </a:endParaRPr>
          </a:p>
          <a:p>
            <a:pPr indent="0" lvl="0" marL="0" rtl="0" algn="ctr">
              <a:spcBef>
                <a:spcPts val="1300"/>
              </a:spcBef>
              <a:spcAft>
                <a:spcPts val="0"/>
              </a:spcAft>
              <a:buNone/>
            </a:pPr>
            <a:r>
              <a:rPr lang="es" sz="2544"/>
              <a:t>For this event you can also use Posit Cloud with this project:</a:t>
            </a:r>
            <a:endParaRPr sz="254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544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200" u="sng">
                <a:solidFill>
                  <a:schemeClr val="hlink"/>
                </a:solidFill>
                <a:hlinkClick r:id="rId6"/>
              </a:rPr>
              <a:t>https://posit.cloud/content/10257752</a:t>
            </a:r>
            <a:endParaRPr sz="3644"/>
          </a:p>
        </p:txBody>
      </p:sp>
      <p:sp>
        <p:nvSpPr>
          <p:cNvPr id="95" name="Google Shape;95;p19"/>
          <p:cNvSpPr txBox="1"/>
          <p:nvPr>
            <p:ph idx="1" type="subTitle"/>
          </p:nvPr>
        </p:nvSpPr>
        <p:spPr>
          <a:xfrm>
            <a:off x="311700" y="4785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What do you need to use Quarto?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4C2F4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Question</a:t>
            </a:r>
            <a:endParaRPr/>
          </a:p>
        </p:txBody>
      </p:sp>
      <p:sp>
        <p:nvSpPr>
          <p:cNvPr id="101" name="Google Shape;101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300"/>
              <a:t>Answer on the chat with </a:t>
            </a:r>
            <a:r>
              <a:rPr b="1" lang="es" sz="2300"/>
              <a:t>yes</a:t>
            </a:r>
            <a:r>
              <a:rPr lang="es" sz="2300"/>
              <a:t> or </a:t>
            </a:r>
            <a:r>
              <a:rPr b="1" lang="es" sz="2300"/>
              <a:t>not:</a:t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23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es" sz="2900"/>
              <a:t>Have you used RMarkdown?</a:t>
            </a:r>
            <a:endParaRPr b="1" sz="29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b="1" sz="23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1"/>
          <p:cNvSpPr txBox="1"/>
          <p:nvPr>
            <p:ph type="title"/>
          </p:nvPr>
        </p:nvSpPr>
        <p:spPr>
          <a:xfrm>
            <a:off x="311700" y="1402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s" sz="3600"/>
              <a:t>Quarto …</a:t>
            </a:r>
            <a:endParaRPr sz="4700"/>
          </a:p>
        </p:txBody>
      </p:sp>
      <p:sp>
        <p:nvSpPr>
          <p:cNvPr id="107" name="Google Shape;107;p21"/>
          <p:cNvSpPr txBox="1"/>
          <p:nvPr>
            <p:ph idx="1" type="body"/>
          </p:nvPr>
        </p:nvSpPr>
        <p:spPr>
          <a:xfrm>
            <a:off x="387900" y="8476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10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222222"/>
                </a:solidFill>
              </a:rPr>
              <a:t>is a new, open-source, scientific, and technical publishing system.</a:t>
            </a:r>
            <a:endParaRPr sz="27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8" name="Google Shape;108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906799"/>
            <a:ext cx="8408499" cy="3046426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21"/>
          <p:cNvSpPr txBox="1"/>
          <p:nvPr/>
        </p:nvSpPr>
        <p:spPr>
          <a:xfrm>
            <a:off x="4164600" y="4818900"/>
            <a:ext cx="49794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s" sz="1000">
                <a:solidFill>
                  <a:srgbClr val="222222"/>
                </a:solidFill>
                <a:highlight>
                  <a:srgbClr val="FFFFFF"/>
                </a:highlight>
              </a:rPr>
              <a:t>Illustrated by Allison Horst.</a:t>
            </a:r>
            <a:endParaRPr sz="10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311700" y="511400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222222"/>
                </a:solidFill>
                <a:highlight>
                  <a:srgbClr val="FFFFFF"/>
                </a:highlight>
              </a:rPr>
              <a:t>With Quarto you can weave </a:t>
            </a:r>
            <a:r>
              <a:rPr b="1" lang="es" sz="2700">
                <a:solidFill>
                  <a:srgbClr val="222222"/>
                </a:solidFill>
                <a:highlight>
                  <a:srgbClr val="FFFFFF"/>
                </a:highlight>
              </a:rPr>
              <a:t>together</a:t>
            </a:r>
            <a:r>
              <a:rPr lang="es" sz="2700">
                <a:solidFill>
                  <a:srgbClr val="222222"/>
                </a:solidFill>
                <a:highlight>
                  <a:srgbClr val="FFFFFF"/>
                </a:highlight>
              </a:rPr>
              <a:t> </a:t>
            </a:r>
            <a:r>
              <a:rPr b="1" lang="es" sz="2700">
                <a:solidFill>
                  <a:srgbClr val="222222"/>
                </a:solidFill>
                <a:highlight>
                  <a:srgbClr val="FFFFFF"/>
                </a:highlight>
              </a:rPr>
              <a:t>narrative text</a:t>
            </a:r>
            <a:r>
              <a:rPr lang="es" sz="2700">
                <a:solidFill>
                  <a:srgbClr val="222222"/>
                </a:solidFill>
                <a:highlight>
                  <a:srgbClr val="FFFFFF"/>
                </a:highlight>
              </a:rPr>
              <a:t> and </a:t>
            </a:r>
            <a:r>
              <a:rPr b="1" lang="es" sz="2700">
                <a:solidFill>
                  <a:srgbClr val="222222"/>
                </a:solidFill>
                <a:highlight>
                  <a:srgbClr val="FFFFFF"/>
                </a:highlight>
              </a:rPr>
              <a:t>code </a:t>
            </a:r>
            <a:r>
              <a:rPr lang="es" sz="2700">
                <a:solidFill>
                  <a:srgbClr val="222222"/>
                </a:solidFill>
                <a:highlight>
                  <a:srgbClr val="FFFFFF"/>
                </a:highlight>
              </a:rPr>
              <a:t>to produce elegantly formatted output as documents, web pages, blog posts, books and more</a:t>
            </a:r>
            <a:endParaRPr sz="2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 sz="2500" u="sng">
                <a:solidFill>
                  <a:schemeClr val="hlink"/>
                </a:solidFill>
                <a:hlinkClick r:id="rId3"/>
              </a:rPr>
              <a:t>https://quarto.org/docs/gallery/</a:t>
            </a:r>
            <a:endParaRPr sz="4100">
              <a:solidFill>
                <a:srgbClr val="222222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Let's</a:t>
            </a:r>
            <a:r>
              <a:rPr lang="es"/>
              <a:t> do a Quarto Tour in RStudio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Components of a Quarto Document</a:t>
            </a:r>
            <a:endParaRPr b="1"/>
          </a:p>
        </p:txBody>
      </p:sp>
      <p:sp>
        <p:nvSpPr>
          <p:cNvPr id="125" name="Google Shape;125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2700"/>
              <a:buFont typeface="Arial"/>
              <a:buNone/>
            </a:pPr>
            <a:r>
              <a:rPr lang="es" sz="2700">
                <a:solidFill>
                  <a:srgbClr val="222222"/>
                </a:solidFill>
              </a:rPr>
              <a:t>Metadata: YAML</a:t>
            </a:r>
            <a:endParaRPr sz="27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2700"/>
              <a:buFont typeface="Arial"/>
              <a:buNone/>
            </a:pPr>
            <a:r>
              <a:rPr lang="es" sz="2700">
                <a:solidFill>
                  <a:srgbClr val="222222"/>
                </a:solidFill>
              </a:rPr>
              <a:t>Text: Markdown</a:t>
            </a:r>
            <a:endParaRPr sz="27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lang="es" sz="2700">
                <a:solidFill>
                  <a:srgbClr val="222222"/>
                </a:solidFill>
              </a:rPr>
              <a:t>Code: Executed via </a:t>
            </a:r>
            <a:r>
              <a:rPr lang="es" sz="2700">
                <a:solidFill>
                  <a:srgbClr val="6C4572"/>
                </a:solidFill>
                <a:latin typeface="Roboto Mono"/>
                <a:ea typeface="Roboto Mono"/>
                <a:cs typeface="Roboto Mono"/>
                <a:sym typeface="Roboto Mono"/>
              </a:rPr>
              <a:t>knitr</a:t>
            </a:r>
            <a:r>
              <a:rPr lang="es" sz="2700">
                <a:solidFill>
                  <a:srgbClr val="222222"/>
                </a:solidFill>
              </a:rPr>
              <a:t> or </a:t>
            </a:r>
            <a:r>
              <a:rPr lang="es" sz="2700">
                <a:solidFill>
                  <a:srgbClr val="6C4572"/>
                </a:solidFill>
                <a:latin typeface="Roboto Mono"/>
                <a:ea typeface="Roboto Mono"/>
                <a:cs typeface="Roboto Mono"/>
                <a:sym typeface="Roboto Mono"/>
              </a:rPr>
              <a:t>jupyter</a:t>
            </a:r>
            <a:endParaRPr sz="2700">
              <a:solidFill>
                <a:srgbClr val="6C457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t/>
            </a:r>
            <a:endParaRPr sz="2700">
              <a:solidFill>
                <a:srgbClr val="6C457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400"/>
              </a:spcBef>
              <a:spcAft>
                <a:spcPts val="0"/>
              </a:spcAft>
              <a:buClr>
                <a:srgbClr val="222222"/>
              </a:buClr>
              <a:buSzPts val="2700"/>
              <a:buFont typeface="Arial"/>
              <a:buNone/>
            </a:pPr>
            <a:r>
              <a:t/>
            </a:r>
            <a:endParaRPr sz="2700">
              <a:solidFill>
                <a:srgbClr val="6C4572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5"/>
          <p:cNvSpPr txBox="1"/>
          <p:nvPr/>
        </p:nvSpPr>
        <p:spPr>
          <a:xfrm>
            <a:off x="226050" y="0"/>
            <a:ext cx="8691900" cy="5128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222222"/>
                </a:solidFill>
              </a:rPr>
              <a:t>“Yet Another Markup Language” or “YAML Ain’t Markup Language” is used to provide document level metadata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in key-value pairs,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that can nest,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are fussy about indentation,</a:t>
            </a:r>
            <a:endParaRPr sz="2400">
              <a:solidFill>
                <a:srgbClr val="222222"/>
              </a:solidFill>
            </a:endParaRPr>
          </a:p>
          <a:p>
            <a:pPr indent="-381000" lvl="0" marL="45720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ts val="2400"/>
              <a:buChar char="●"/>
            </a:pPr>
            <a:r>
              <a:rPr lang="es" sz="2400">
                <a:solidFill>
                  <a:srgbClr val="222222"/>
                </a:solidFill>
              </a:rPr>
              <a:t>and are kept between </a:t>
            </a:r>
            <a:r>
              <a:rPr lang="es" sz="2400">
                <a:solidFill>
                  <a:srgbClr val="6C4572"/>
                </a:solidFill>
                <a:latin typeface="Roboto Mono"/>
                <a:ea typeface="Roboto Mono"/>
                <a:cs typeface="Roboto Mono"/>
                <a:sym typeface="Roboto Mono"/>
              </a:rPr>
              <a:t>---</a:t>
            </a:r>
            <a:r>
              <a:rPr lang="es" sz="2400">
                <a:solidFill>
                  <a:srgbClr val="222222"/>
                </a:solidFill>
              </a:rPr>
              <a:t>.</a:t>
            </a:r>
            <a:endParaRPr sz="24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rgbClr val="AD0000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AD0000"/>
                </a:solidFill>
                <a:highlight>
                  <a:srgbClr val="FFFFFF"/>
                </a:highlight>
              </a:rPr>
              <a:t>---</a:t>
            </a:r>
            <a:endParaRPr sz="2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4758AB"/>
                </a:solidFill>
                <a:highlight>
                  <a:srgbClr val="FFFFFF"/>
                </a:highlight>
              </a:rPr>
              <a:t>key</a:t>
            </a:r>
            <a:r>
              <a:rPr b="1" lang="es" sz="2400">
                <a:solidFill>
                  <a:srgbClr val="003B4F"/>
                </a:solidFill>
                <a:highlight>
                  <a:srgbClr val="FFFFFF"/>
                </a:highlight>
              </a:rPr>
              <a:t>:</a:t>
            </a:r>
            <a:r>
              <a:rPr lang="es" sz="2400">
                <a:solidFill>
                  <a:srgbClr val="657422"/>
                </a:solidFill>
                <a:highlight>
                  <a:srgbClr val="FFFFFF"/>
                </a:highlight>
              </a:rPr>
              <a:t> value</a:t>
            </a:r>
            <a:endParaRPr sz="2400">
              <a:solidFill>
                <a:srgbClr val="222222"/>
              </a:solidFill>
              <a:highlight>
                <a:srgbClr val="FFFFFF"/>
              </a:highlight>
            </a:endParaRPr>
          </a:p>
          <a:p>
            <a:pPr indent="0" lvl="0" marL="0" marR="8890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2400">
                <a:solidFill>
                  <a:srgbClr val="AD0000"/>
                </a:solidFill>
                <a:highlight>
                  <a:srgbClr val="FFFFFF"/>
                </a:highlight>
              </a:rPr>
              <a:t>---</a:t>
            </a:r>
            <a:endParaRPr sz="2400">
              <a:solidFill>
                <a:srgbClr val="AD0000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100"/>
              </a:spcBef>
              <a:spcAft>
                <a:spcPts val="1900"/>
              </a:spcAft>
              <a:buNone/>
            </a:pPr>
            <a:r>
              <a:rPr lang="es" sz="2400">
                <a:solidFill>
                  <a:srgbClr val="222222"/>
                </a:solidFill>
              </a:rPr>
              <a:t>Definitive list: </a:t>
            </a:r>
            <a:r>
              <a:rPr lang="es" sz="2400">
                <a:solidFill>
                  <a:srgbClr val="222222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quarto.org/docs/reference/formats/html</a:t>
            </a:r>
            <a:endParaRPr sz="2100">
              <a:solidFill>
                <a:srgbClr val="AD0000"/>
              </a:solidFill>
              <a:highlight>
                <a:srgbClr val="FFFFFF"/>
              </a:highlight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7" st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8" st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>
                                            <p:txEl>
                                              <p:pRg end="9" st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Many output formats + programming languages</a:t>
            </a:r>
            <a:endParaRPr b="1"/>
          </a:p>
        </p:txBody>
      </p:sp>
      <p:sp>
        <p:nvSpPr>
          <p:cNvPr id="136" name="Google Shape;136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-387191" lvl="0" marL="457200" rtl="0" algn="l">
              <a:spcBef>
                <a:spcPts val="11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HTML reports and websites</a:t>
            </a:r>
            <a:endParaRPr sz="2700">
              <a:solidFill>
                <a:srgbClr val="222222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PDF reports</a:t>
            </a:r>
            <a:endParaRPr sz="2700">
              <a:solidFill>
                <a:srgbClr val="222222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MS Office (Word, Powerpoint)</a:t>
            </a:r>
            <a:endParaRPr sz="2700">
              <a:solidFill>
                <a:srgbClr val="222222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Presentations (Powerpoint, Beamer, </a:t>
            </a:r>
            <a:r>
              <a:rPr lang="es" sz="2700">
                <a:solidFill>
                  <a:srgbClr val="6C4572"/>
                </a:solidFill>
                <a:latin typeface="Roboto Mono"/>
                <a:ea typeface="Roboto Mono"/>
                <a:cs typeface="Roboto Mono"/>
                <a:sym typeface="Roboto Mono"/>
              </a:rPr>
              <a:t>revealjs</a:t>
            </a:r>
            <a:r>
              <a:rPr lang="es" sz="2700">
                <a:solidFill>
                  <a:srgbClr val="222222"/>
                </a:solidFill>
              </a:rPr>
              <a:t>)</a:t>
            </a:r>
            <a:endParaRPr sz="2700">
              <a:solidFill>
                <a:srgbClr val="222222"/>
              </a:solidFill>
            </a:endParaRPr>
          </a:p>
          <a:p>
            <a:pPr indent="-387191" lvl="0" marL="457200" rtl="0" algn="l">
              <a:spcBef>
                <a:spcPts val="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Books</a:t>
            </a:r>
            <a:endParaRPr sz="27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87191" lvl="0" marL="596900" rtl="0" algn="l">
              <a:spcBef>
                <a:spcPts val="1200"/>
              </a:spcBef>
              <a:spcAft>
                <a:spcPts val="0"/>
              </a:spcAft>
              <a:buClr>
                <a:srgbClr val="222222"/>
              </a:buClr>
              <a:buSzPct val="100000"/>
              <a:buChar char="●"/>
            </a:pPr>
            <a:r>
              <a:rPr lang="es" sz="2700">
                <a:solidFill>
                  <a:srgbClr val="222222"/>
                </a:solidFill>
              </a:rPr>
              <a:t>Any language, </a:t>
            </a:r>
            <a:r>
              <a:rPr i="1" lang="es" sz="2700">
                <a:solidFill>
                  <a:srgbClr val="222222"/>
                </a:solidFill>
              </a:rPr>
              <a:t>exact</a:t>
            </a:r>
            <a:r>
              <a:rPr lang="es" sz="2700">
                <a:solidFill>
                  <a:srgbClr val="222222"/>
                </a:solidFill>
              </a:rPr>
              <a:t> same approach and syntax</a:t>
            </a:r>
            <a:endParaRPr sz="2700">
              <a:solidFill>
                <a:srgbClr val="222222"/>
              </a:solidFill>
            </a:endParaRPr>
          </a:p>
          <a:p>
            <a:pPr indent="0" lvl="0" marL="0" rtl="0" algn="l">
              <a:spcBef>
                <a:spcPts val="19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E599"/>
        </a:solidFill>
      </p:bgPr>
    </p:bg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"/>
              <a:t>Let's check the different part of a document and try different type of documents in RStudio</a:t>
            </a:r>
            <a:endParaRPr b="1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Where we can learn more?</a:t>
            </a:r>
            <a:endParaRPr/>
          </a:p>
        </p:txBody>
      </p:sp>
      <p:sp>
        <p:nvSpPr>
          <p:cNvPr id="147" name="Google Shape;147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u="sng">
                <a:solidFill>
                  <a:schemeClr val="hlink"/>
                </a:solidFill>
                <a:hlinkClick r:id="rId3"/>
              </a:rPr>
              <a:t>Installing</a:t>
            </a:r>
            <a:r>
              <a:rPr lang="es" sz="2400" u="sng">
                <a:solidFill>
                  <a:schemeClr val="hlink"/>
                </a:solidFill>
                <a:hlinkClick r:id="rId4"/>
              </a:rPr>
              <a:t> Quarto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u="sng">
                <a:solidFill>
                  <a:schemeClr val="hlink"/>
                </a:solidFill>
                <a:hlinkClick r:id="rId5"/>
              </a:rPr>
              <a:t>Official Documentation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u="sng">
                <a:solidFill>
                  <a:schemeClr val="hlink"/>
                </a:solidFill>
                <a:hlinkClick r:id="rId6"/>
              </a:rPr>
              <a:t>Slides: </a:t>
            </a:r>
            <a:r>
              <a:rPr lang="es" sz="2400" u="sng">
                <a:solidFill>
                  <a:schemeClr val="hlink"/>
                </a:solidFill>
                <a:hlinkClick r:id="rId7"/>
              </a:rPr>
              <a:t>Emil Hvitfeldt’s Series Slidecraft 101</a:t>
            </a:r>
            <a:endParaRPr sz="2400"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s" sz="2400" u="sng">
                <a:solidFill>
                  <a:schemeClr val="hlink"/>
                </a:solidFill>
                <a:hlinkClick r:id="rId8"/>
              </a:rPr>
              <a:t>Branding your Quarto Project by Isabella Velasquez</a:t>
            </a:r>
            <a:endParaRPr sz="24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