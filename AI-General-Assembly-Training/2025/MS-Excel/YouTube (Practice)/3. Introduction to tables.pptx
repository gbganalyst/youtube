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87" r:id="rId2"/>
    <p:sldId id="272" r:id="rId3"/>
    <p:sldId id="256" r:id="rId4"/>
    <p:sldId id="274" r:id="rId5"/>
    <p:sldId id="275" r:id="rId6"/>
    <p:sldId id="276" r:id="rId7"/>
    <p:sldId id="277" r:id="rId8"/>
    <p:sldId id="278" r:id="rId9"/>
    <p:sldId id="288" r:id="rId10"/>
    <p:sldId id="279" r:id="rId11"/>
    <p:sldId id="280" r:id="rId12"/>
    <p:sldId id="281" r:id="rId13"/>
    <p:sldId id="283" r:id="rId14"/>
    <p:sldId id="284" r:id="rId15"/>
    <p:sldId id="285" r:id="rId16"/>
    <p:sldId id="28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E314D8-0F1F-4625-9034-496BB2694FD5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8E1E0-142C-4E29-9ABF-A9973A8B4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825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8E1E0-142C-4E29-9ABF-A9973A8B4B1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806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EC538-EE3F-4F1E-A591-1D25FC1F8B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5F6C1C-14DB-4BA9-B655-0A780BD1B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58CB9-1E8D-49A3-B6E7-CCDD40790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D1705-C9FA-40B1-83FA-CEE0BFF2E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B4CF0-AA30-4478-A393-E4A277BC9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617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85915-F9A3-4B0F-811A-87E44CCDF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BD422-E8C7-4BC1-B11B-AD36E8C85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4415"/>
            <a:ext cx="10515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Aft>
                <a:spcPts val="1200"/>
              </a:spcAft>
              <a:defRPr sz="2800"/>
            </a:lvl1pPr>
            <a:lvl2pPr>
              <a:lnSpc>
                <a:spcPct val="150000"/>
              </a:lnSpc>
              <a:spcAft>
                <a:spcPts val="1200"/>
              </a:spcAft>
              <a:defRPr sz="2800"/>
            </a:lvl2pPr>
            <a:lvl3pPr>
              <a:lnSpc>
                <a:spcPct val="150000"/>
              </a:lnSpc>
              <a:spcAft>
                <a:spcPts val="1200"/>
              </a:spcAft>
              <a:defRPr sz="2800"/>
            </a:lvl3pPr>
            <a:lvl4pPr>
              <a:lnSpc>
                <a:spcPct val="150000"/>
              </a:lnSpc>
              <a:spcAft>
                <a:spcPts val="1200"/>
              </a:spcAft>
              <a:defRPr sz="2800"/>
            </a:lvl4pPr>
            <a:lvl5pPr>
              <a:lnSpc>
                <a:spcPct val="150000"/>
              </a:lnSpc>
              <a:spcAft>
                <a:spcPts val="1200"/>
              </a:spcAft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3163C-490D-4227-8BB8-A39B6B0A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AC920-5360-4B52-B1B1-C28D9B1B5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E9DB4-E2E5-443D-BAC1-3C5A78C2B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112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DD16B-CD79-418F-8BEB-57ACF0757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74CC3-C895-4608-BBEA-51D09BFCE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FBCB4-57FD-4BB0-BAE3-06B3B08AF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5C27D-2CBC-4851-A3D5-15465BEC1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C2FEF-3B14-4B6E-9819-F2243ADE2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314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433EC-BCE6-4C64-B5C3-0AFEAD16A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 b="1">
                <a:solidFill>
                  <a:schemeClr val="accent6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117AE-3A00-4E35-9777-C666E3502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/>
            </a:lvl1pPr>
            <a:lvl2pPr>
              <a:lnSpc>
                <a:spcPct val="150000"/>
              </a:lnSpc>
              <a:defRPr sz="2800"/>
            </a:lvl2pPr>
            <a:lvl3pPr>
              <a:lnSpc>
                <a:spcPct val="150000"/>
              </a:lnSpc>
              <a:defRPr sz="2800"/>
            </a:lvl3pPr>
            <a:lvl4pPr>
              <a:lnSpc>
                <a:spcPct val="150000"/>
              </a:lnSpc>
              <a:defRPr sz="2800"/>
            </a:lvl4pPr>
            <a:lvl5pPr>
              <a:lnSpc>
                <a:spcPct val="150000"/>
              </a:lnSpc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02F01E-D3A9-4D89-B6D1-19174E96E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/>
            </a:lvl1pPr>
            <a:lvl2pPr>
              <a:lnSpc>
                <a:spcPct val="150000"/>
              </a:lnSpc>
              <a:defRPr sz="2800"/>
            </a:lvl2pPr>
            <a:lvl3pPr>
              <a:lnSpc>
                <a:spcPct val="150000"/>
              </a:lnSpc>
              <a:defRPr sz="2800"/>
            </a:lvl3pPr>
            <a:lvl4pPr>
              <a:lnSpc>
                <a:spcPct val="150000"/>
              </a:lnSpc>
              <a:defRPr sz="2800"/>
            </a:lvl4pPr>
            <a:lvl5pPr>
              <a:lnSpc>
                <a:spcPct val="150000"/>
              </a:lnSpc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C260B-DD79-4F09-8E3B-12D82C77D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48BF7-E3AA-44BC-9216-EE5B43CFC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7769B-5FD1-4BAA-B71C-26C601CA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392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4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4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4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4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4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0D165-B050-4F2E-9E14-B87259E36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C4C03-79BF-4B72-BE1D-33D488E19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C08A4F-01DB-4AFC-BFF5-5E4E47A79E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CA68B3-90D4-4AE1-92C3-92D6D4AB81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F670F7-AAD9-404B-8BE1-4A907119DD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978D5-6CB8-48AD-BF92-8401BE904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0709B2-DFEB-4F3F-A442-199AA5AA8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9F2200-F1FA-419B-B96F-F405B503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692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FA947-727F-4DC4-B770-E488302A1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FB9EE4-B487-4437-9DC1-FE7EDEE71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B5E66-AE0E-4F6E-B17A-DD2931439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3AAAF6-9332-4B78-8CCB-CA7F312DF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84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632A65-6ED0-4C5D-8BA5-A5D1C48CA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8501B3-FF93-47A5-8310-8D9FE1665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04E9C-F344-4401-A4D3-9D64BA90B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77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1A819-C882-4C16-83D2-F6461E31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14F11-B8CD-42D8-A386-912CDAF27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057BBB-2B40-408B-8512-0C5E3D724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71E84-528E-4743-B7DC-34D6ED8B8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AFD4D-B772-4756-BF3E-EE1D6F0D1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9313E-889E-4C3E-A67E-F18390633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18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D0A30-9F53-4704-9063-D06B2BFCB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8DAC60-024D-471D-8628-C4BDA16E5D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D80F8-7307-4743-B587-52649C5F3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0E7A9-DAA4-4EDC-8114-2F22223CC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7FEA6-BD58-4B40-841E-F6A5EA268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9397C-047F-4B32-9D24-C4F39CC8B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955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80F1-F227-4014-8758-4C118F9D6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E02EA4-2EE8-4CE0-BF78-294717D8B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21447-63E8-4536-911F-3521DE9E1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C317F-8531-4DFE-B392-F58F326A9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F6062-D35E-423D-BD4C-E402ACD2B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437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362AC-88F4-484D-8918-3B0948452D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27B9FD-6867-4639-A7A4-B75014201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CE222-3165-4D29-BC6B-8E0EF72AC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95E2-1CF3-49A4-B7A8-B518A9AF32A2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CAB4F-808A-48FF-9C22-368A2D914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46E08-BC77-4E3F-B39F-DE34F9702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508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AE2706-A55B-4778-A305-0E80982FF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5D9BB8-CC0E-4400-A32B-A5B5C2244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0E95C-9DE5-41A8-B859-EE3A5BA521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195E2-1CF3-49A4-B7A8-B518A9AF32A2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CED67-D8C9-40D7-ACF6-261BAD048E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9FC6C-A5C4-485B-AD53-5E6B64E181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E11C7F-5F10-41A5-B9E2-C0716341DA0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lowchart: Delay 6">
            <a:extLst>
              <a:ext uri="{FF2B5EF4-FFF2-40B4-BE49-F238E27FC236}">
                <a16:creationId xmlns:a16="http://schemas.microsoft.com/office/drawing/2014/main" id="{6EE911C7-D366-4828-B993-5E2C1C1C8F0C}"/>
              </a:ext>
            </a:extLst>
          </p:cNvPr>
          <p:cNvSpPr/>
          <p:nvPr userDrawn="1"/>
        </p:nvSpPr>
        <p:spPr>
          <a:xfrm>
            <a:off x="0" y="0"/>
            <a:ext cx="395416" cy="827903"/>
          </a:xfrm>
          <a:prstGeom prst="flowChartDelay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Thomas Adewumi University">
            <a:extLst>
              <a:ext uri="{FF2B5EF4-FFF2-40B4-BE49-F238E27FC236}">
                <a16:creationId xmlns:a16="http://schemas.microsoft.com/office/drawing/2014/main" id="{35460BC0-FF27-4820-ACE3-823AE372C8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1363" y="10264"/>
            <a:ext cx="848831" cy="852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3354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hyperlink" Target="https://www.linkedin.com/in/comsavvy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msavvy.github.io/" TargetMode="External"/><Relationship Id="rId5" Type="http://schemas.openxmlformats.org/officeDocument/2006/relationships/image" Target="../media/image4.png"/><Relationship Id="rId4" Type="http://schemas.openxmlformats.org/officeDocument/2006/relationships/hyperlink" Target="https://github.com/comsavvy" TargetMode="External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DC8E4E-58C1-4A71-8FCD-D124AB2539C6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4372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38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66DFC-3B19-4AB8-B27C-3901B9B842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9161" y="555387"/>
            <a:ext cx="7386662" cy="1637096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Data Analytics </a:t>
            </a:r>
            <a:br>
              <a:rPr lang="en-US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3600" b="1" i="1" dirty="0">
                <a:solidFill>
                  <a:schemeClr val="accent6">
                    <a:lumMod val="75000"/>
                  </a:schemeClr>
                </a:solidFill>
                <a:latin typeface="Calisto MT" panose="02040603050505030304" pitchFamily="18" charset="0"/>
              </a:rPr>
              <a:t>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908EEA-83DF-4B19-8603-7DF98B7F3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50178" y="4329915"/>
            <a:ext cx="6797008" cy="94769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Learn how to clean, manipulate, visualize, and analyze data in Spreadsheet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082950-EDAD-478E-83D9-5CCEE82108AA}"/>
              </a:ext>
            </a:extLst>
          </p:cNvPr>
          <p:cNvSpPr txBox="1"/>
          <p:nvPr/>
        </p:nvSpPr>
        <p:spPr>
          <a:xfrm>
            <a:off x="99666" y="5843787"/>
            <a:ext cx="309384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nstantia" panose="02030602050306030303" pitchFamily="18" charset="0"/>
              </a:rPr>
              <a:t>Presented by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onstantia" panose="02030602050306030303" pitchFamily="18" charset="0"/>
              </a:rPr>
              <a:t>:</a:t>
            </a:r>
          </a:p>
          <a:p>
            <a:pPr marL="393700"/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onstantia" panose="02030602050306030303" pitchFamily="18" charset="0"/>
              </a:rPr>
              <a:t>Olusola Ogundepo</a:t>
            </a:r>
          </a:p>
        </p:txBody>
      </p:sp>
      <p:pic>
        <p:nvPicPr>
          <p:cNvPr id="2058" name="Picture 10" descr="Linkedin logo png, Linkedin icon transparent png 18930480 PNG">
            <a:hlinkClick r:id="rId2"/>
            <a:extLst>
              <a:ext uri="{FF2B5EF4-FFF2-40B4-BE49-F238E27FC236}">
                <a16:creationId xmlns:a16="http://schemas.microsoft.com/office/drawing/2014/main" id="{797D0FBB-E2AB-461E-8F4B-4C79D93F1F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07" r="16453"/>
          <a:stretch/>
        </p:blipFill>
        <p:spPr bwMode="auto">
          <a:xfrm>
            <a:off x="10461518" y="6330145"/>
            <a:ext cx="411965" cy="375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UBC GitHub Instructor Guide | Learning Technology Hub">
            <a:hlinkClick r:id="rId4"/>
            <a:extLst>
              <a:ext uri="{FF2B5EF4-FFF2-40B4-BE49-F238E27FC236}">
                <a16:creationId xmlns:a16="http://schemas.microsoft.com/office/drawing/2014/main" id="{1368CA89-2248-41F8-86D5-DA78EA9BB3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79" r="16951"/>
          <a:stretch/>
        </p:blipFill>
        <p:spPr bwMode="auto">
          <a:xfrm>
            <a:off x="10971381" y="6330145"/>
            <a:ext cx="411965" cy="375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Visit Website Images – Browse 77,523 Stock Photos, Vectors ...">
            <a:hlinkClick r:id="rId6"/>
            <a:extLst>
              <a:ext uri="{FF2B5EF4-FFF2-40B4-BE49-F238E27FC236}">
                <a16:creationId xmlns:a16="http://schemas.microsoft.com/office/drawing/2014/main" id="{819CD115-677C-4627-AED5-7CFF49255F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94" b="17618"/>
          <a:stretch/>
        </p:blipFill>
        <p:spPr bwMode="auto">
          <a:xfrm>
            <a:off x="11383346" y="6331627"/>
            <a:ext cx="808654" cy="373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D88B4E-5823-4C53-A576-40E3BC248848}"/>
              </a:ext>
            </a:extLst>
          </p:cNvPr>
          <p:cNvSpPr txBox="1"/>
          <p:nvPr/>
        </p:nvSpPr>
        <p:spPr>
          <a:xfrm>
            <a:off x="3530531" y="6156747"/>
            <a:ext cx="6089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</a:rPr>
              <a:t>Data scientist who leverages advanced analytics to drive business growth while mentoring future leader in data innovation.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20EABB9-3645-4640-85C2-E9283413C93F}"/>
              </a:ext>
            </a:extLst>
          </p:cNvPr>
          <p:cNvGrpSpPr/>
          <p:nvPr/>
        </p:nvGrpSpPr>
        <p:grpSpPr>
          <a:xfrm>
            <a:off x="2897798" y="2561836"/>
            <a:ext cx="6849388" cy="1201901"/>
            <a:chOff x="2871608" y="2487674"/>
            <a:chExt cx="6849388" cy="1201901"/>
          </a:xfrm>
        </p:grpSpPr>
        <p:pic>
          <p:nvPicPr>
            <p:cNvPr id="2050" name="Picture 2" descr="Excel | Prism">
              <a:extLst>
                <a:ext uri="{FF2B5EF4-FFF2-40B4-BE49-F238E27FC236}">
                  <a16:creationId xmlns:a16="http://schemas.microsoft.com/office/drawing/2014/main" id="{ECA0649F-8F5A-4044-BC27-8047CBA5DAE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588" b="21588"/>
            <a:stretch/>
          </p:blipFill>
          <p:spPr bwMode="auto">
            <a:xfrm>
              <a:off x="2871608" y="2487674"/>
              <a:ext cx="3178502" cy="1201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4F087DC9-8C23-4236-9556-732A1FF5F5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6015" y="2487674"/>
              <a:ext cx="2984981" cy="12019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7661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78B48-1EFA-497F-93FE-311C875E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Module 3</a:t>
            </a:r>
            <a:endParaRPr lang="en-US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58ACB6-D68A-4FFF-B6CD-FDA3C239F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063192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Introduction to Tables</a:t>
            </a:r>
          </a:p>
          <a:p>
            <a:pPr marL="0" indent="0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/>
              <a:t>Learn how to format, organize, and analyze data efficiently using Excel &amp; Google Spreadsheet Tables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819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07F02-18DB-4956-B9DE-7D21543F1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Tables in Excel?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6320E-2558-4E01-BAC4-46CA948F52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11678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Benefits of Using Tables: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Improves data organization and readability.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Enables efficient sorting and filtering.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Provides dynamic range references for formulas.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Enhances visualization with built-in styles.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ABC9D4-30A2-47C2-903F-8BE0557A3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53745" y="1825625"/>
            <a:ext cx="43434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Real-World Applications: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Financial reporting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Inventory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Data entry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Customer databases</a:t>
            </a:r>
          </a:p>
        </p:txBody>
      </p:sp>
    </p:spTree>
    <p:extLst>
      <p:ext uri="{BB962C8B-B14F-4D97-AF65-F5344CB8AC3E}">
        <p14:creationId xmlns:p14="http://schemas.microsoft.com/office/powerpoint/2010/main" val="4047474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23F3C-1AEE-4E47-B5B5-5ECDAC5BC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Converting Data into a Table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B476C-7470-49CB-9DC0-191DBC8D32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592782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What is a Table in Excel?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structured way to store and manage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Makes data handling easier with built-in tools.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463A7B-2618-468C-B865-714C42B9E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604164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Steps to Create a Table: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Select the data range (including headers).</a:t>
            </a:r>
          </a:p>
          <a:p>
            <a:pPr>
              <a:buFont typeface="+mj-lt"/>
              <a:buAutoNum type="arabicPeriod"/>
            </a:pPr>
            <a:r>
              <a:rPr lang="en-US" dirty="0"/>
              <a:t>Go to </a:t>
            </a:r>
            <a:r>
              <a:rPr lang="en-US" b="1" dirty="0"/>
              <a:t>Insert &gt; Table</a:t>
            </a:r>
            <a:r>
              <a:rPr lang="en-US" dirty="0"/>
              <a:t> or press </a:t>
            </a:r>
            <a:r>
              <a:rPr lang="en-US" b="1" dirty="0"/>
              <a:t>Ctrl + T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Ensure the "My table has headers" box is checked.</a:t>
            </a:r>
          </a:p>
          <a:p>
            <a:pPr>
              <a:buFont typeface="+mj-lt"/>
              <a:buAutoNum type="arabicPeriod"/>
            </a:pPr>
            <a:r>
              <a:rPr lang="en-US" dirty="0"/>
              <a:t>Click "OK" to create the table.</a:t>
            </a:r>
          </a:p>
        </p:txBody>
      </p:sp>
    </p:spTree>
    <p:extLst>
      <p:ext uri="{BB962C8B-B14F-4D97-AF65-F5344CB8AC3E}">
        <p14:creationId xmlns:p14="http://schemas.microsoft.com/office/powerpoint/2010/main" val="1565869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A5321-C48D-41D7-B352-4A81BCAFB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Table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2BC35-D6BE-45B7-8055-62C1019310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530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Why Use Table Styles?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Enhances </a:t>
            </a:r>
            <a:r>
              <a:rPr lang="en-US" sz="3000" dirty="0"/>
              <a:t>data</a:t>
            </a:r>
            <a:r>
              <a:rPr lang="en-US" dirty="0"/>
              <a:t> visualization.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Differentiates headers and rows.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consistency in large datasets.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9521D5-6CEA-417B-9294-5F7A886B35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728855" cy="479684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How to Apply Table Styles: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Click inside the table.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Navigate to </a:t>
            </a:r>
            <a:r>
              <a:rPr lang="en-US" b="1" dirty="0"/>
              <a:t>Table Design &gt; Table Styles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Choose from Light, Medium, or Dark styles.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Customize by selecting </a:t>
            </a:r>
            <a:r>
              <a:rPr lang="en-US" b="1" dirty="0"/>
              <a:t>Modify Table Style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6826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14ADF-1DA0-407F-896A-0B79B7757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Columns to a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84FE4-2653-4FC0-A910-7A93162EA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5999"/>
            <a:ext cx="10515600" cy="373975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Click on the last column and start typing.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Right-click and select </a:t>
            </a:r>
            <a:r>
              <a:rPr lang="en-US" b="1" dirty="0"/>
              <a:t>Insert Column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6064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14ADF-1DA0-407F-896A-0B79B7757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Columns from a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84FE4-2653-4FC0-A910-7A93162EA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7455"/>
            <a:ext cx="10515600" cy="38782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Removing Columns from a Table: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Select the column, right-click, and choose </a:t>
            </a:r>
            <a:r>
              <a:rPr lang="en-US" b="1" dirty="0"/>
              <a:t>Delete Column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0907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14ADF-1DA0-407F-896A-0B79B7757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Dynamic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84FE4-2653-4FC0-A910-7A93162EA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7455"/>
            <a:ext cx="10515600" cy="387829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Automatically expands when new data is entered.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formulas adjust dynamically.</a:t>
            </a:r>
          </a:p>
        </p:txBody>
      </p:sp>
    </p:spTree>
    <p:extLst>
      <p:ext uri="{BB962C8B-B14F-4D97-AF65-F5344CB8AC3E}">
        <p14:creationId xmlns:p14="http://schemas.microsoft.com/office/powerpoint/2010/main" val="3072719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B8FB6-E457-4FDD-B654-EC1E864B4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Sorting Data in a Table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5CD32-86EB-4E5D-A288-AEF6DF079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Alphabetically (A-Z or Z-A).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Numerically (Smallest to Largest or vice versa).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By date (Oldest to Newest or vice versa).</a:t>
            </a:r>
          </a:p>
        </p:txBody>
      </p:sp>
    </p:spTree>
    <p:extLst>
      <p:ext uri="{BB962C8B-B14F-4D97-AF65-F5344CB8AC3E}">
        <p14:creationId xmlns:p14="http://schemas.microsoft.com/office/powerpoint/2010/main" val="957680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B8FB6-E457-4FDD-B654-EC1E864B4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Within a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5CD32-86EB-4E5D-A288-AEF6DF079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Click the dropdown arrow in a header.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Choose the filter criteria (e.g., show only "Pending" orders).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Clear filters by selecting </a:t>
            </a:r>
            <a:r>
              <a:rPr lang="en-US" b="1" dirty="0"/>
              <a:t>Clear Filter from [Column Name]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744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E5CD3-83F0-4E80-85E5-B59388357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Conditional Formatting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6F687-B952-49C3-89E6-E049BD3AF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is Conditional Formatting?</a:t>
            </a:r>
            <a:endParaRPr lang="en-US" dirty="0"/>
          </a:p>
          <a:p>
            <a:r>
              <a:rPr lang="en-US" dirty="0"/>
              <a:t>A tool that highlights cells based on conditions.</a:t>
            </a:r>
          </a:p>
          <a:p>
            <a:r>
              <a:rPr lang="en-US" dirty="0"/>
              <a:t>Makes patterns and outliers visible in data.</a:t>
            </a:r>
          </a:p>
        </p:txBody>
      </p:sp>
    </p:spTree>
    <p:extLst>
      <p:ext uri="{BB962C8B-B14F-4D97-AF65-F5344CB8AC3E}">
        <p14:creationId xmlns:p14="http://schemas.microsoft.com/office/powerpoint/2010/main" val="2402146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E5CD3-83F0-4E80-85E5-B59388357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Conditional Formatting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6F687-B952-49C3-89E6-E049BD3AF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4415"/>
            <a:ext cx="10515600" cy="48095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300" b="1" dirty="0"/>
              <a:t>Where to Find It?</a:t>
            </a:r>
            <a:endParaRPr lang="en-US" sz="3300" dirty="0"/>
          </a:p>
          <a:p>
            <a:r>
              <a:rPr lang="en-US" b="1" dirty="0"/>
              <a:t>Home &gt; Conditional Formatting</a:t>
            </a:r>
            <a:endParaRPr lang="en-US" dirty="0"/>
          </a:p>
          <a:p>
            <a:pPr marL="0" indent="0">
              <a:buNone/>
            </a:pPr>
            <a:r>
              <a:rPr lang="en-US" sz="3100" b="1" dirty="0"/>
              <a:t>Common Use Cases:</a:t>
            </a:r>
            <a:endParaRPr lang="en-US" sz="3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Highlighting overdue tasks.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Identifying top/bottom performers.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Flagging duplicate values.</a:t>
            </a:r>
          </a:p>
        </p:txBody>
      </p:sp>
    </p:spTree>
    <p:extLst>
      <p:ext uri="{BB962C8B-B14F-4D97-AF65-F5344CB8AC3E}">
        <p14:creationId xmlns:p14="http://schemas.microsoft.com/office/powerpoint/2010/main" val="2945374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50AF0-B385-471F-BD8F-5E8A7474E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Highlighting Duplicate Values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2C94A4-A413-4CEB-A481-45E7DA17E2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Why Remove or Highlight Duplicates?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Prevents data redundancy.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Ensures accurate analysis.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B56CFC-618C-427D-BB2D-E22056256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562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Steps to Highlight Duplicates: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dirty="0"/>
              <a:t>Select the data range.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Go to </a:t>
            </a:r>
            <a:r>
              <a:rPr lang="en-US" sz="2400" b="1" dirty="0"/>
              <a:t>Home &gt; Conditional Formatting &gt; Highlight Cells Rules &gt; Duplicate Values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Choose a color to highlight duplicate entries.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Click "OK" to apply.</a:t>
            </a:r>
          </a:p>
        </p:txBody>
      </p:sp>
    </p:spTree>
    <p:extLst>
      <p:ext uri="{BB962C8B-B14F-4D97-AF65-F5344CB8AC3E}">
        <p14:creationId xmlns:p14="http://schemas.microsoft.com/office/powerpoint/2010/main" val="195283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38B94-4C78-42AB-BE78-B822E65BA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Data Bars, Color Scales, and Icon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AD67E-4674-4678-AFD4-9C85AB4F41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964382" cy="466725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Data Bars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Visually represents values within a range.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Found in </a:t>
            </a:r>
            <a:r>
              <a:rPr lang="en-US" sz="2400" b="1" dirty="0"/>
              <a:t>Conditional Formatting &gt; Data Bars</a:t>
            </a:r>
            <a:r>
              <a:rPr lang="en-US" sz="2400" dirty="0"/>
              <a:t>.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sz="2400" b="1" dirty="0"/>
              <a:t>Color Scales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Applies a gradient color effect to show value differences.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Example: Lowest values in red, highest in green.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Found in </a:t>
            </a:r>
            <a:r>
              <a:rPr lang="en-US" sz="2400" b="1" dirty="0"/>
              <a:t>Conditional Formatting &gt; Color Scales</a:t>
            </a:r>
            <a:r>
              <a:rPr lang="en-US" sz="2400" dirty="0"/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A58885-6585-4260-B647-C060415D0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02581" y="1825625"/>
            <a:ext cx="4932219" cy="4351338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2400" b="1" dirty="0"/>
              <a:t>Icon Sets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Uses symbols (✔️, ⚠️, ❌) to indicate trends.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Found in </a:t>
            </a:r>
            <a:r>
              <a:rPr lang="en-US" sz="2400" b="1" dirty="0"/>
              <a:t>Conditional Formatting &gt; Icon Sets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2365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59913-B130-4C03-A902-457C75652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Simple Conditional Rules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DAB1E7-F4DD-4028-AFED-CCDBC3C599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b="1" dirty="0"/>
              <a:t>Custom Conditional Formatting Rules: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Highlight cells that exceed a threshold.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Apply different colors to specific conditions.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4DA6D2-C04E-4857-A71E-F790C317A7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6116782" cy="476913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b="1" dirty="0"/>
              <a:t>Steps to Create a Rule: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Select the range of data.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Go to </a:t>
            </a:r>
            <a:r>
              <a:rPr lang="en-US" sz="2400" b="1" dirty="0"/>
              <a:t>Home &gt; Conditional Formatting &gt; New Rule</a:t>
            </a:r>
            <a:r>
              <a:rPr lang="en-US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Choose "Format cells based on their values."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Define the rule (e.g., values greater than 100 turn red).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Click "OK" to apply.</a:t>
            </a:r>
          </a:p>
        </p:txBody>
      </p:sp>
    </p:spTree>
    <p:extLst>
      <p:ext uri="{BB962C8B-B14F-4D97-AF65-F5344CB8AC3E}">
        <p14:creationId xmlns:p14="http://schemas.microsoft.com/office/powerpoint/2010/main" val="659264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F05E0-EDD4-40F4-86A5-440CDBED2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Takeaways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F91D8-0A32-4804-88A1-177AD1BEA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Excel Tables make data organization efficient and dynamic.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Sorting and filtering help streamline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Conditional Formatting enhances data visibility.</a:t>
            </a:r>
          </a:p>
        </p:txBody>
      </p:sp>
    </p:spTree>
    <p:extLst>
      <p:ext uri="{BB962C8B-B14F-4D97-AF65-F5344CB8AC3E}">
        <p14:creationId xmlns:p14="http://schemas.microsoft.com/office/powerpoint/2010/main" val="10466405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9BE50-EED8-4EC6-88DF-42248E430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sz="6000" b="1" dirty="0">
                <a:solidFill>
                  <a:schemeClr val="accent5">
                    <a:lumMod val="75000"/>
                  </a:schemeClr>
                </a:solidFill>
              </a:rPr>
              <a:t>Next Module: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CCA3F-3D4B-4076-B59C-6E24D47C9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to PivotTables &amp; Advanced Data Summarization.</a:t>
            </a:r>
          </a:p>
        </p:txBody>
      </p:sp>
    </p:spTree>
    <p:extLst>
      <p:ext uri="{BB962C8B-B14F-4D97-AF65-F5344CB8AC3E}">
        <p14:creationId xmlns:p14="http://schemas.microsoft.com/office/powerpoint/2010/main" val="4962385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E4A13-8CB1-4EC8-9375-B88308FB5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Questions?</a:t>
            </a:r>
            <a:endParaRPr lang="en-US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31D06-9AAC-44FC-8456-8A2A44C3C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4169641" cy="1500187"/>
          </a:xfrm>
        </p:spPr>
        <p:txBody>
          <a:bodyPr/>
          <a:lstStyle/>
          <a:p>
            <a:r>
              <a:rPr lang="en-US" dirty="0">
                <a:latin typeface="+mj-lt"/>
              </a:rPr>
              <a:t>Get clarity to your doubts and be on good standing</a:t>
            </a:r>
          </a:p>
        </p:txBody>
      </p:sp>
    </p:spTree>
    <p:extLst>
      <p:ext uri="{BB962C8B-B14F-4D97-AF65-F5344CB8AC3E}">
        <p14:creationId xmlns:p14="http://schemas.microsoft.com/office/powerpoint/2010/main" val="2345524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692</Words>
  <Application>Microsoft Office PowerPoint</Application>
  <PresentationFormat>Widescreen</PresentationFormat>
  <Paragraphs>106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Calisto MT</vt:lpstr>
      <vt:lpstr>Constantia</vt:lpstr>
      <vt:lpstr>Office Theme</vt:lpstr>
      <vt:lpstr>PowerPoint Presentation</vt:lpstr>
      <vt:lpstr>Data Analytics  in</vt:lpstr>
      <vt:lpstr>Module 3</vt:lpstr>
      <vt:lpstr>Why Use Tables in Excel?</vt:lpstr>
      <vt:lpstr>Converting Data into a Table Format</vt:lpstr>
      <vt:lpstr>Using Table Styles</vt:lpstr>
      <vt:lpstr>Adding Columns to a Table</vt:lpstr>
      <vt:lpstr>Removing Columns from a Table</vt:lpstr>
      <vt:lpstr>Benefits of Dynamic Tables</vt:lpstr>
      <vt:lpstr>Sorting Data in a Table</vt:lpstr>
      <vt:lpstr>Filtering Within a Table</vt:lpstr>
      <vt:lpstr>Introduction to Conditional Formatting</vt:lpstr>
      <vt:lpstr>Introduction to Conditional Formatting</vt:lpstr>
      <vt:lpstr>Highlighting Duplicate Values</vt:lpstr>
      <vt:lpstr>Using Data Bars, Color Scales, and Icon Sets</vt:lpstr>
      <vt:lpstr>Creating Simple Conditional Rules</vt:lpstr>
      <vt:lpstr>Key Takeaways</vt:lpstr>
      <vt:lpstr>Next Module: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Olusola Timothy Ogundepo</dc:creator>
  <cp:lastModifiedBy>Olusola Timothy Ogundepo</cp:lastModifiedBy>
  <cp:revision>19</cp:revision>
  <dcterms:created xsi:type="dcterms:W3CDTF">2025-02-18T16:48:27Z</dcterms:created>
  <dcterms:modified xsi:type="dcterms:W3CDTF">2025-04-08T15:39:01Z</dcterms:modified>
</cp:coreProperties>
</file>