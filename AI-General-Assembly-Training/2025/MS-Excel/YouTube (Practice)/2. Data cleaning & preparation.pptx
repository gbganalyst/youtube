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3" r:id="rId2"/>
    <p:sldId id="272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70" r:id="rId15"/>
    <p:sldId id="274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314D8-0F1F-4625-9034-496BB2694FD5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8E1E0-142C-4E29-9ABF-A9973A8B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8E1E0-142C-4E29-9ABF-A9973A8B4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9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C538-EE3F-4F1E-A591-1D25FC1F8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F6C1C-14DB-4BA9-B655-0A780BD1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58CB9-1E8D-49A3-B6E7-CCDD4079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D1705-C9FA-40B1-83FA-CEE0BFF2E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4CF0-AA30-4478-A393-E4A277BC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1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5915-F9A3-4B0F-811A-87E44CCD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D422-E8C7-4BC1-B11B-AD36E8C8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5"/>
            <a:ext cx="10515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Aft>
                <a:spcPts val="1200"/>
              </a:spcAft>
              <a:defRPr sz="2800"/>
            </a:lvl1pPr>
            <a:lvl2pPr>
              <a:lnSpc>
                <a:spcPct val="150000"/>
              </a:lnSpc>
              <a:spcAft>
                <a:spcPts val="1200"/>
              </a:spcAft>
              <a:defRPr sz="2800"/>
            </a:lvl2pPr>
            <a:lvl3pPr>
              <a:lnSpc>
                <a:spcPct val="150000"/>
              </a:lnSpc>
              <a:spcAft>
                <a:spcPts val="1200"/>
              </a:spcAft>
              <a:defRPr sz="2800"/>
            </a:lvl3pPr>
            <a:lvl4pPr>
              <a:lnSpc>
                <a:spcPct val="150000"/>
              </a:lnSpc>
              <a:spcAft>
                <a:spcPts val="1200"/>
              </a:spcAft>
              <a:defRPr sz="2800"/>
            </a:lvl4pPr>
            <a:lvl5pPr>
              <a:lnSpc>
                <a:spcPct val="150000"/>
              </a:lnSpc>
              <a:spcAft>
                <a:spcPts val="1200"/>
              </a:spcAft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3163C-490D-4227-8BB8-A39B6B0A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AC920-5360-4B52-B1B1-C28D9B1B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E9DB4-E2E5-443D-BAC1-3C5A78C2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1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16B-CD79-418F-8BEB-57ACF075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74CC3-C895-4608-BBEA-51D09BFC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FBCB4-57FD-4BB0-BAE3-06B3B08A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5C27D-2CBC-4851-A3D5-15465BEC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C2FEF-3B14-4B6E-9819-F2243ADE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1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33EC-BCE6-4C64-B5C3-0AFEAD16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6000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17AE-3A00-4E35-9777-C666E3502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2F01E-D3A9-4D89-B6D1-19174E96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260B-DD79-4F09-8E3B-12D82C77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48BF7-E3AA-44BC-9216-EE5B43CF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7769B-5FD1-4BAA-B71C-26C601CA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9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D165-B050-4F2E-9E14-B87259E3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C4C03-79BF-4B72-BE1D-33D488E1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08A4F-01DB-4AFC-BFF5-5E4E47A79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A68B3-90D4-4AE1-92C3-92D6D4AB8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670F7-AAD9-404B-8BE1-4A907119D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978D5-6CB8-48AD-BF92-8401BE90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709B2-DFEB-4F3F-A442-199AA5AA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F2200-F1FA-419B-B96F-F405B503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A947-727F-4DC4-B770-E488302A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B9EE4-B487-4437-9DC1-FE7EDEE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B5E66-AE0E-4F6E-B17A-DD293143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AAAF6-9332-4B78-8CCB-CA7F312D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32A65-6ED0-4C5D-8BA5-A5D1C48C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501B3-FF93-47A5-8310-8D9FE166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04E9C-F344-4401-A4D3-9D64BA90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7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A819-C882-4C16-83D2-F6461E31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4F11-B8CD-42D8-A386-912CDAF2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7BBB-2B40-408B-8512-0C5E3D724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71E84-528E-4743-B7DC-34D6ED8B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AFD4D-B772-4756-BF3E-EE1D6F0D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9313E-889E-4C3E-A67E-F1839063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1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0A30-9F53-4704-9063-D06B2BFC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DAC60-024D-471D-8628-C4BDA16E5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D80F8-7307-4743-B587-52649C5F3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0E7A9-DAA4-4EDC-8114-2F22223C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7FEA6-BD58-4B40-841E-F6A5EA26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9397C-047F-4B32-9D24-C4F39CC8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5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80F1-F227-4014-8758-4C118F9D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02EA4-2EE8-4CE0-BF78-294717D8B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1447-63E8-4536-911F-3521DE9E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317F-8531-4DFE-B392-F58F326A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6062-D35E-423D-BD4C-E402ACD2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3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362AC-88F4-484D-8918-3B0948452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7B9FD-6867-4639-A7A4-B75014201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CE222-3165-4D29-BC6B-8E0EF72A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CAB4F-808A-48FF-9C22-368A2D91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6E08-BC77-4E3F-B39F-DE34F970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E2706-A55B-4778-A305-0E80982F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D9BB8-CC0E-4400-A32B-A5B5C224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E95C-9DE5-41A8-B859-EE3A5BA52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CED67-D8C9-40D7-ACF6-261BAD048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FC6C-A5C4-485B-AD53-5E6B64E18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6EE911C7-D366-4828-B993-5E2C1C1C8F0C}"/>
              </a:ext>
            </a:extLst>
          </p:cNvPr>
          <p:cNvSpPr/>
          <p:nvPr userDrawn="1"/>
        </p:nvSpPr>
        <p:spPr>
          <a:xfrm>
            <a:off x="0" y="0"/>
            <a:ext cx="395416" cy="827903"/>
          </a:xfrm>
          <a:prstGeom prst="flowChartDelay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Thomas Adewumi University">
            <a:extLst>
              <a:ext uri="{FF2B5EF4-FFF2-40B4-BE49-F238E27FC236}">
                <a16:creationId xmlns:a16="http://schemas.microsoft.com/office/drawing/2014/main" id="{35460BC0-FF27-4820-ACE3-823AE372C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35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hyperlink" Target="https://www.linkedin.com/in/comsavv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savvy.github.io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github.com/comsavvy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C8E4E-58C1-4A71-8FCD-D124AB2539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7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11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6DFC-3B19-4AB8-B27C-3901B9B84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161" y="555387"/>
            <a:ext cx="7386662" cy="1637096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Data Analytics 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latin typeface="Calisto MT" panose="02040603050505030304" pitchFamily="18" charset="0"/>
              </a:rPr>
              <a:t>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08EEA-83DF-4B19-8603-7DF98B7F3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178" y="4329915"/>
            <a:ext cx="6797008" cy="9476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Learn how to clean, manipulate, visualize, and analyze data in Spreadsheet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82950-EDAD-478E-83D9-5CCEE82108AA}"/>
              </a:ext>
            </a:extLst>
          </p:cNvPr>
          <p:cNvSpPr txBox="1"/>
          <p:nvPr/>
        </p:nvSpPr>
        <p:spPr>
          <a:xfrm>
            <a:off x="99666" y="5843787"/>
            <a:ext cx="30938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Presented by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:</a:t>
            </a:r>
          </a:p>
          <a:p>
            <a:pPr marL="393700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Olusola Ogundepo</a:t>
            </a:r>
          </a:p>
        </p:txBody>
      </p:sp>
      <p:pic>
        <p:nvPicPr>
          <p:cNvPr id="2058" name="Picture 10" descr="Linkedin logo png, Linkedin icon transparent png 18930480 PNG">
            <a:hlinkClick r:id="rId2"/>
            <a:extLst>
              <a:ext uri="{FF2B5EF4-FFF2-40B4-BE49-F238E27FC236}">
                <a16:creationId xmlns:a16="http://schemas.microsoft.com/office/drawing/2014/main" id="{797D0FBB-E2AB-461E-8F4B-4C79D93F1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7" r="16453"/>
          <a:stretch/>
        </p:blipFill>
        <p:spPr bwMode="auto">
          <a:xfrm>
            <a:off x="10461518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BC GitHub Instructor Guide | Learning Technology Hub">
            <a:hlinkClick r:id="rId4"/>
            <a:extLst>
              <a:ext uri="{FF2B5EF4-FFF2-40B4-BE49-F238E27FC236}">
                <a16:creationId xmlns:a16="http://schemas.microsoft.com/office/drawing/2014/main" id="{1368CA89-2248-41F8-86D5-DA78EA9BB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9" r="16951"/>
          <a:stretch/>
        </p:blipFill>
        <p:spPr bwMode="auto">
          <a:xfrm>
            <a:off x="10971381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Visit Website Images – Browse 77,523 Stock Photos, Vectors ...">
            <a:hlinkClick r:id="rId6"/>
            <a:extLst>
              <a:ext uri="{FF2B5EF4-FFF2-40B4-BE49-F238E27FC236}">
                <a16:creationId xmlns:a16="http://schemas.microsoft.com/office/drawing/2014/main" id="{819CD115-677C-4627-AED5-7CFF492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4" b="17618"/>
          <a:stretch/>
        </p:blipFill>
        <p:spPr bwMode="auto">
          <a:xfrm>
            <a:off x="11383346" y="6331627"/>
            <a:ext cx="808654" cy="37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D88B4E-5823-4C53-A576-40E3BC248848}"/>
              </a:ext>
            </a:extLst>
          </p:cNvPr>
          <p:cNvSpPr txBox="1"/>
          <p:nvPr/>
        </p:nvSpPr>
        <p:spPr>
          <a:xfrm>
            <a:off x="3530531" y="6156747"/>
            <a:ext cx="6089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</a:rPr>
              <a:t>Data scientist who leverages advanced analytics to drive business growth while mentoring future leader in data innovation.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0EABB9-3645-4640-85C2-E9283413C93F}"/>
              </a:ext>
            </a:extLst>
          </p:cNvPr>
          <p:cNvGrpSpPr/>
          <p:nvPr/>
        </p:nvGrpSpPr>
        <p:grpSpPr>
          <a:xfrm>
            <a:off x="2897798" y="2561836"/>
            <a:ext cx="6849388" cy="1201901"/>
            <a:chOff x="2871608" y="2487674"/>
            <a:chExt cx="6849388" cy="1201901"/>
          </a:xfrm>
        </p:grpSpPr>
        <p:pic>
          <p:nvPicPr>
            <p:cNvPr id="2050" name="Picture 2" descr="Excel | Prism">
              <a:extLst>
                <a:ext uri="{FF2B5EF4-FFF2-40B4-BE49-F238E27FC236}">
                  <a16:creationId xmlns:a16="http://schemas.microsoft.com/office/drawing/2014/main" id="{ECA0649F-8F5A-4044-BC27-8047CBA5DA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88" b="21588"/>
            <a:stretch/>
          </p:blipFill>
          <p:spPr bwMode="auto">
            <a:xfrm>
              <a:off x="2871608" y="2487674"/>
              <a:ext cx="3178502" cy="1201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F087DC9-8C23-4236-9556-732A1FF5F5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6015" y="2487674"/>
              <a:ext cx="2984981" cy="120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766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8B48-1EFA-497F-93FE-311C875E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Module 2</a:t>
            </a: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8ACB6-D68A-4FFF-B6CD-FDA3C239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063192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Data Cleaning &amp; Preparation</a:t>
            </a:r>
          </a:p>
          <a:p>
            <a:pPr marL="0" indent="0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chemeClr val="tx1"/>
                </a:solidFill>
              </a:rPr>
              <a:t>Learn essential techniques to clean, structure, and manipulate data for analysis</a:t>
            </a:r>
          </a:p>
        </p:txBody>
      </p:sp>
    </p:spTree>
    <p:extLst>
      <p:ext uri="{BB962C8B-B14F-4D97-AF65-F5344CB8AC3E}">
        <p14:creationId xmlns:p14="http://schemas.microsoft.com/office/powerpoint/2010/main" val="136381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45DFCE-AEC0-4E66-837A-0E910BDF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of Data Cleaning &amp; Preparation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D7355F-25E2-4195-B57C-2748A94C7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Why is Data Cleaning Important?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accuracy and consistency in data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errors and improves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Enhances data visualization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time by avoiding manual corrections later.</a:t>
            </a:r>
          </a:p>
        </p:txBody>
      </p:sp>
    </p:spTree>
    <p:extLst>
      <p:ext uri="{BB962C8B-B14F-4D97-AF65-F5344CB8AC3E}">
        <p14:creationId xmlns:p14="http://schemas.microsoft.com/office/powerpoint/2010/main" val="30704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5175-4467-401A-94A9-BEBFA485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Data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2898-8822-4A93-966F-B025869D6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4415"/>
            <a:ext cx="10716491" cy="501733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Missing Values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pPr lvl="1">
              <a:spcAft>
                <a:spcPts val="1200"/>
              </a:spcAft>
            </a:pPr>
            <a:r>
              <a:rPr lang="en-US" dirty="0"/>
              <a:t>Data entries may be incomplete, leading to misinterpretations.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Duplicates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Repeated records can distort analysis and cause redundancy.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Incorrect Formatting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Inconsistent date formats, numerical inconsistencies, and extra spaces can affect calculations.</a:t>
            </a:r>
          </a:p>
        </p:txBody>
      </p:sp>
    </p:spTree>
    <p:extLst>
      <p:ext uri="{BB962C8B-B14F-4D97-AF65-F5344CB8AC3E}">
        <p14:creationId xmlns:p14="http://schemas.microsoft.com/office/powerpoint/2010/main" val="255743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A47A-4D02-492E-8BE7-E8D1C28C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9FF5-C258-4E3E-BFDF-221DA637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1062855" cy="5250946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Sorting Data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spcAft>
                <a:spcPts val="1000"/>
              </a:spcAft>
            </a:pPr>
            <a:r>
              <a:rPr lang="en-US" sz="2400" dirty="0"/>
              <a:t>Organize data in </a:t>
            </a:r>
            <a:r>
              <a:rPr lang="en-US" sz="2400" b="1" dirty="0"/>
              <a:t>ascending, descending, or custom order</a:t>
            </a:r>
            <a:r>
              <a:rPr lang="en-US" sz="2400" dirty="0"/>
              <a:t> to spot irregularities.</a:t>
            </a:r>
          </a:p>
          <a:p>
            <a:pPr marL="457200" indent="-457200">
              <a:lnSpc>
                <a:spcPct val="10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Using Filters</a:t>
            </a:r>
          </a:p>
          <a:p>
            <a:pPr lvl="1">
              <a:lnSpc>
                <a:spcPct val="100000"/>
              </a:lnSpc>
              <a:spcAft>
                <a:spcPts val="1000"/>
              </a:spcAft>
            </a:pPr>
            <a:r>
              <a:rPr lang="en-US" sz="2400" dirty="0"/>
              <a:t>Filter datasets to display specific information.</a:t>
            </a:r>
          </a:p>
          <a:p>
            <a:pPr lvl="1">
              <a:lnSpc>
                <a:spcPct val="100000"/>
              </a:lnSpc>
              <a:spcAft>
                <a:spcPts val="1000"/>
              </a:spcAft>
            </a:pPr>
            <a:r>
              <a:rPr lang="en-US" sz="2400" dirty="0"/>
              <a:t>Steps:</a:t>
            </a:r>
          </a:p>
          <a:p>
            <a:pPr marL="1200150" lvl="2" indent="-285750">
              <a:lnSpc>
                <a:spcPct val="100000"/>
              </a:lnSpc>
              <a:spcAft>
                <a:spcPts val="1000"/>
              </a:spcAft>
            </a:pPr>
            <a:r>
              <a:rPr lang="en-US" sz="2400" dirty="0"/>
              <a:t>Click on </a:t>
            </a:r>
            <a:r>
              <a:rPr lang="en-US" sz="2400" b="1" dirty="0"/>
              <a:t>Data &gt; Filter</a:t>
            </a:r>
            <a:endParaRPr lang="en-US" sz="2400" dirty="0"/>
          </a:p>
          <a:p>
            <a:pPr marL="1200150" lvl="2" indent="-285750">
              <a:lnSpc>
                <a:spcPct val="100000"/>
              </a:lnSpc>
              <a:spcAft>
                <a:spcPts val="1000"/>
              </a:spcAft>
            </a:pPr>
            <a:r>
              <a:rPr lang="en-US" sz="2400" dirty="0"/>
              <a:t>Use dropdown menus to filter columns.</a:t>
            </a:r>
          </a:p>
          <a:p>
            <a:pPr marL="457200" indent="-457200">
              <a:lnSpc>
                <a:spcPct val="10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Clearing Filters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spcAft>
                <a:spcPts val="1000"/>
              </a:spcAft>
            </a:pPr>
            <a:r>
              <a:rPr lang="en-US" sz="2400" dirty="0"/>
              <a:t>Remove filters to view the complete dataset again.</a:t>
            </a:r>
          </a:p>
        </p:txBody>
      </p:sp>
    </p:spTree>
    <p:extLst>
      <p:ext uri="{BB962C8B-B14F-4D97-AF65-F5344CB8AC3E}">
        <p14:creationId xmlns:p14="http://schemas.microsoft.com/office/powerpoint/2010/main" val="787950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88D6-8A3D-4A35-A61F-FD948C84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Handling Duplicates &amp; Unwanted Characters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F7D383-9A00-4CFC-AD20-CC6E2FDDB2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Removing Duplicates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delete duplicate records using: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&gt; Remove Duplicates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Using TRIM and CLEAN Functions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TRIM()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Removes extra spaces from text.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CLEAN()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Removes non-printable characters.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27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FEB7-4BDF-4FBC-AD40-00732301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Text-to-Columns and Flash Fill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F6F69-20C7-4B0C-9325-632CCF746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4"/>
            <a:ext cx="10515600" cy="475409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Text-to-Columns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Split text values into separate columns.</a:t>
            </a:r>
          </a:p>
          <a:p>
            <a:pPr lvl="1"/>
            <a:r>
              <a:rPr lang="en-US" dirty="0"/>
              <a:t>Useful for separating names, dates, or product codes.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Flash Fill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Automatically detects patterns and fills data.</a:t>
            </a:r>
          </a:p>
          <a:p>
            <a:pPr lvl="1"/>
            <a:r>
              <a:rPr lang="en-US" dirty="0"/>
              <a:t>Example: Extracting first names from a full name column.</a:t>
            </a:r>
          </a:p>
        </p:txBody>
      </p:sp>
    </p:spTree>
    <p:extLst>
      <p:ext uri="{BB962C8B-B14F-4D97-AF65-F5344CB8AC3E}">
        <p14:creationId xmlns:p14="http://schemas.microsoft.com/office/powerpoint/2010/main" val="205196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6692-80F8-42EA-B150-C251B84A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 &amp; Replace Tool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5495-BA62-41BA-9257-E1EAF55E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5"/>
            <a:ext cx="10515600" cy="48649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</a:rPr>
              <a:t>Find &amp; Replace</a:t>
            </a:r>
            <a:endParaRPr lang="en-US" sz="330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Quickly correct errors in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Replace "N/A" with blank cells.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Press </a:t>
            </a:r>
            <a:r>
              <a:rPr lang="en-US" b="1" dirty="0"/>
              <a:t>Ctrl + H</a:t>
            </a:r>
            <a:r>
              <a:rPr lang="en-US" dirty="0"/>
              <a:t> to open Find &amp; Replace.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Enter the word to find and the replacement text.</a:t>
            </a:r>
          </a:p>
        </p:txBody>
      </p:sp>
    </p:spTree>
    <p:extLst>
      <p:ext uri="{BB962C8B-B14F-4D97-AF65-F5344CB8AC3E}">
        <p14:creationId xmlns:p14="http://schemas.microsoft.com/office/powerpoint/2010/main" val="9059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05E2-8619-4CC5-A26C-EB6F0186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Validation for Accuracy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764B4-14E7-4A8B-9774-3FC611E5B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33611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Setting Rules for Data Entry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Prevent incorrect entries by defining rules.</a:t>
            </a:r>
          </a:p>
          <a:p>
            <a:pPr lvl="1"/>
            <a:r>
              <a:rPr lang="en-US" dirty="0"/>
              <a:t>Example: Restricting values to a specific range.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DC054-617A-4A8A-981E-7B2DC82C2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6019800" cy="453361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Drop-down Lists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Ensure consistency by providing predefined options.</a:t>
            </a:r>
          </a:p>
          <a:p>
            <a:pPr lvl="1"/>
            <a:r>
              <a:rPr lang="en-US" dirty="0"/>
              <a:t>Steps:</a:t>
            </a:r>
          </a:p>
          <a:p>
            <a:pPr marL="1200150" lvl="2" indent="-285750"/>
            <a:r>
              <a:rPr lang="en-US" dirty="0"/>
              <a:t>Select cells &gt; </a:t>
            </a:r>
            <a:r>
              <a:rPr lang="en-US" b="1" dirty="0"/>
              <a:t>Data &gt; Data Validation</a:t>
            </a:r>
            <a:endParaRPr lang="en-US" dirty="0"/>
          </a:p>
          <a:p>
            <a:pPr marL="1200150" lvl="2" indent="-285750"/>
            <a:r>
              <a:rPr lang="en-US" dirty="0"/>
              <a:t>Choose "List" and enter allowed values.</a:t>
            </a:r>
          </a:p>
        </p:txBody>
      </p:sp>
    </p:spTree>
    <p:extLst>
      <p:ext uri="{BB962C8B-B14F-4D97-AF65-F5344CB8AC3E}">
        <p14:creationId xmlns:p14="http://schemas.microsoft.com/office/powerpoint/2010/main" val="325084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F928-BD0B-4FEE-93A7-ED86ECB9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43818"/>
          </a:xfrm>
        </p:spPr>
        <p:txBody>
          <a:bodyPr/>
          <a:lstStyle/>
          <a:p>
            <a:r>
              <a:rPr lang="en-US" b="1" dirty="0"/>
              <a:t>Data Manipulation with Functions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5B98AE-9202-4B9B-9419-4F1F17EF6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30329"/>
            <a:ext cx="1103514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Logical Functions: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Returns values based on a condition.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=IF(A2&gt;50, "Pass", "Fail")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18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IFS()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AND()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More complex conditions.</a:t>
            </a:r>
          </a:p>
        </p:txBody>
      </p:sp>
    </p:spTree>
    <p:extLst>
      <p:ext uri="{BB962C8B-B14F-4D97-AF65-F5344CB8AC3E}">
        <p14:creationId xmlns:p14="http://schemas.microsoft.com/office/powerpoint/2010/main" val="3073613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F928-BD0B-4FEE-93A7-ED86ECB9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43818"/>
          </a:xfrm>
        </p:spPr>
        <p:txBody>
          <a:bodyPr/>
          <a:lstStyle/>
          <a:p>
            <a:r>
              <a:rPr lang="en-US" b="1" dirty="0"/>
              <a:t>Data Manipulation with Functions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5B98AE-9202-4B9B-9419-4F1F17EF6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68719"/>
            <a:ext cx="1103514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buFont typeface="+mj-lt"/>
              <a:buAutoNum type="arabicPeriod" startAt="2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Lookup Functions: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VLOOKUP()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Searches for a value in a column.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HLOOKUP()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Searches for a value in a row.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XLOOKUP()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More flexible version of VLOOKUP.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INDEX-MATCH()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A powerful alternative to VLOOKUP.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2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7033-7136-4309-821E-3AE0EBD7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Text Functions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6C6F91-BB95-42C0-BDE8-BE1C58F79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64572"/>
            <a:ext cx="1092430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Extracting Specific Parts of Text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LEFT(text,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num_chars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Extracts characters from the left.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RIGHT(text,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num_chars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Extracts characters from the right.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MID(text,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start_num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num_chars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Extracts text from the middle.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LEN(text)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Returns the length of a string.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03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7033-7136-4309-821E-3AE0EBD7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Text Functions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6C6F91-BB95-42C0-BDE8-BE1C58F79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33739"/>
            <a:ext cx="1092430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Combining &amp; Formatting Text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CONCATENATE(text1, text2, …)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Joins text values.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CONCATENATE(A2, " ", B2)</a:t>
            </a: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TEXTJOIN(delimiter,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ignore_empty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text1, …) – One of the latest functions to join ranges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TEXT(value,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format_text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Formats numbers/dates into text.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421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7033-7136-4309-821E-3AE0EBD7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Text Functions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6C6F91-BB95-42C0-BDE8-BE1C58F79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87518"/>
            <a:ext cx="10924309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Changing Text Case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UPPER()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lang="en-US" altLang="en-US" dirty="0">
                <a:latin typeface="Arial" panose="020B0604020202020204" pitchFamily="34" charset="0"/>
              </a:rPr>
              <a:t>Change text to All Capitals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spcBef>
                <a:spcPct val="0"/>
              </a:spcBef>
            </a:pPr>
            <a:r>
              <a:rPr lang="en-US" altLang="en-US" sz="2000" b="1" dirty="0">
                <a:latin typeface="Arial Unicode MS"/>
              </a:rPr>
              <a:t>LOWER()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Change text to Lowercase</a:t>
            </a:r>
          </a:p>
          <a:p>
            <a:pPr lvl="1" eaLnBrk="0" fontAlgn="base" hangingPunct="0">
              <a:spcBef>
                <a:spcPct val="0"/>
              </a:spcBef>
            </a:pPr>
            <a:r>
              <a:rPr lang="en-US" altLang="en-US" sz="2000" b="1" dirty="0">
                <a:latin typeface="Arial Unicode MS"/>
              </a:rPr>
              <a:t>PROPER()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– Capitalize the first letter of each word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40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05E0-EDD4-40F4-86A5-440CDBED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1D8-0A32-4804-88A1-177AD1BE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Cleaning data ensures accuracy, consistency, and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Excel provides multiple tools to detect and correct data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Logical, lookup, and text functions help manipulate and extract data efficiently.</a:t>
            </a:r>
          </a:p>
        </p:txBody>
      </p:sp>
    </p:spTree>
    <p:extLst>
      <p:ext uri="{BB962C8B-B14F-4D97-AF65-F5344CB8AC3E}">
        <p14:creationId xmlns:p14="http://schemas.microsoft.com/office/powerpoint/2010/main" val="1046640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BE50-EED8-4EC6-88DF-42248E43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</a:rPr>
              <a:t>Next Module: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CCA3F-3D4B-4076-B59C-6E24D47C9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Tables</a:t>
            </a:r>
          </a:p>
        </p:txBody>
      </p:sp>
    </p:spTree>
    <p:extLst>
      <p:ext uri="{BB962C8B-B14F-4D97-AF65-F5344CB8AC3E}">
        <p14:creationId xmlns:p14="http://schemas.microsoft.com/office/powerpoint/2010/main" val="496238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4A13-8CB1-4EC8-9375-B88308FB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Questions?</a:t>
            </a:r>
            <a:endParaRPr lang="en-US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31D06-9AAC-44FC-8456-8A2A44C3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169641" cy="1500187"/>
          </a:xfrm>
        </p:spPr>
        <p:txBody>
          <a:bodyPr/>
          <a:lstStyle/>
          <a:p>
            <a:r>
              <a:rPr lang="en-US" dirty="0">
                <a:latin typeface="+mj-lt"/>
              </a:rPr>
              <a:t>Get clarity to your doubts and be on good standing</a:t>
            </a:r>
          </a:p>
        </p:txBody>
      </p:sp>
    </p:spTree>
    <p:extLst>
      <p:ext uri="{BB962C8B-B14F-4D97-AF65-F5344CB8AC3E}">
        <p14:creationId xmlns:p14="http://schemas.microsoft.com/office/powerpoint/2010/main" val="2345524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692</Words>
  <Application>Microsoft Office PowerPoint</Application>
  <PresentationFormat>Widescreen</PresentationFormat>
  <Paragraphs>99</Paragraphs>
  <Slides>18</Slides>
  <Notes>1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Unicode MS</vt:lpstr>
      <vt:lpstr>Calibri</vt:lpstr>
      <vt:lpstr>Calibri Light</vt:lpstr>
      <vt:lpstr>Calisto MT</vt:lpstr>
      <vt:lpstr>Constantia</vt:lpstr>
      <vt:lpstr>Office Theme</vt:lpstr>
      <vt:lpstr>PowerPoint Presentation</vt:lpstr>
      <vt:lpstr>Data Analytics  in</vt:lpstr>
      <vt:lpstr>Module 2</vt:lpstr>
      <vt:lpstr>Importance of Data Cleaning &amp; Preparation</vt:lpstr>
      <vt:lpstr>Common Data Issues</vt:lpstr>
      <vt:lpstr>Data Cleaning Techniques</vt:lpstr>
      <vt:lpstr>Handling Duplicates &amp; Unwanted Characters</vt:lpstr>
      <vt:lpstr>Text-to-Columns and Flash Fill</vt:lpstr>
      <vt:lpstr>Find &amp; Replace Tool</vt:lpstr>
      <vt:lpstr>Data Validation for Accuracy</vt:lpstr>
      <vt:lpstr>Data Manipulation with Functions</vt:lpstr>
      <vt:lpstr>Data Manipulation with Functions</vt:lpstr>
      <vt:lpstr>Working with Text Functions</vt:lpstr>
      <vt:lpstr>Working with Text Functions</vt:lpstr>
      <vt:lpstr>Working with Text Functions</vt:lpstr>
      <vt:lpstr>Key Takeaways</vt:lpstr>
      <vt:lpstr>Next Module: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Olusola Timothy Ogundepo</dc:creator>
  <cp:lastModifiedBy>Olusola Timothy Ogundepo</cp:lastModifiedBy>
  <cp:revision>12</cp:revision>
  <dcterms:created xsi:type="dcterms:W3CDTF">2025-02-18T16:48:27Z</dcterms:created>
  <dcterms:modified xsi:type="dcterms:W3CDTF">2025-04-08T15:15:53Z</dcterms:modified>
</cp:coreProperties>
</file>