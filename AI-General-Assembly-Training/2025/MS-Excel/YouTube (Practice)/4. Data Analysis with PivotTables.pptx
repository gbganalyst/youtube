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87" r:id="rId2"/>
    <p:sldId id="272" r:id="rId3"/>
    <p:sldId id="256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314D8-0F1F-4625-9034-496BB2694FD5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8E1E0-142C-4E29-9ABF-A9973A8B4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C538-EE3F-4F1E-A591-1D25FC1F8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5F6C1C-14DB-4BA9-B655-0A780BD1B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58CB9-1E8D-49A3-B6E7-CCDD40790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D1705-C9FA-40B1-83FA-CEE0BFF2E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B4CF0-AA30-4478-A393-E4A277BC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1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85915-F9A3-4B0F-811A-87E44CCDF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BD422-E8C7-4BC1-B11B-AD36E8C85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415"/>
            <a:ext cx="10515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Aft>
                <a:spcPts val="1200"/>
              </a:spcAft>
              <a:defRPr sz="2800"/>
            </a:lvl1pPr>
            <a:lvl2pPr>
              <a:lnSpc>
                <a:spcPct val="150000"/>
              </a:lnSpc>
              <a:spcAft>
                <a:spcPts val="1200"/>
              </a:spcAft>
              <a:defRPr sz="2800"/>
            </a:lvl2pPr>
            <a:lvl3pPr>
              <a:lnSpc>
                <a:spcPct val="150000"/>
              </a:lnSpc>
              <a:spcAft>
                <a:spcPts val="1200"/>
              </a:spcAft>
              <a:defRPr sz="2800"/>
            </a:lvl3pPr>
            <a:lvl4pPr>
              <a:lnSpc>
                <a:spcPct val="150000"/>
              </a:lnSpc>
              <a:spcAft>
                <a:spcPts val="1200"/>
              </a:spcAft>
              <a:defRPr sz="2800"/>
            </a:lvl4pPr>
            <a:lvl5pPr>
              <a:lnSpc>
                <a:spcPct val="150000"/>
              </a:lnSpc>
              <a:spcAft>
                <a:spcPts val="1200"/>
              </a:spcAft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3163C-490D-4227-8BB8-A39B6B0A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AC920-5360-4B52-B1B1-C28D9B1B5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E9DB4-E2E5-443D-BAC1-3C5A78C2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1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D16B-CD79-418F-8BEB-57ACF0757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74CC3-C895-4608-BBEA-51D09BFCE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FBCB4-57FD-4BB0-BAE3-06B3B08AF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5C27D-2CBC-4851-A3D5-15465BEC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C2FEF-3B14-4B6E-9819-F2243ADE2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14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433EC-BCE6-4C64-B5C3-0AFEAD16A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89"/>
            <a:ext cx="10515600" cy="1325563"/>
          </a:xfrm>
        </p:spPr>
        <p:txBody>
          <a:bodyPr>
            <a:normAutofit/>
          </a:bodyPr>
          <a:lstStyle>
            <a:lvl1pPr>
              <a:defRPr sz="4400"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117AE-3A00-4E35-9777-C666E3502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55839"/>
            <a:ext cx="5181600" cy="462112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400"/>
            </a:lvl3pPr>
            <a:lvl4pPr>
              <a:lnSpc>
                <a:spcPct val="150000"/>
              </a:lnSpc>
              <a:defRPr sz="2400"/>
            </a:lvl4pPr>
            <a:lvl5pPr>
              <a:lnSpc>
                <a:spcPct val="150000"/>
              </a:lnSpc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2F01E-D3A9-4D89-B6D1-19174E96E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55839"/>
            <a:ext cx="5181600" cy="462112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400"/>
            </a:lvl3pPr>
            <a:lvl4pPr>
              <a:lnSpc>
                <a:spcPct val="150000"/>
              </a:lnSpc>
              <a:defRPr sz="2400"/>
            </a:lvl4pPr>
            <a:lvl5pPr>
              <a:lnSpc>
                <a:spcPct val="150000"/>
              </a:lnSpc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C260B-DD79-4F09-8E3B-12D82C77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48BF7-E3AA-44BC-9216-EE5B43CF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7769B-5FD1-4BAA-B71C-26C601CA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9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4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4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4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4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4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0D165-B050-4F2E-9E14-B87259E36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192"/>
            <a:ext cx="10515600" cy="1325563"/>
          </a:xfrm>
        </p:spPr>
        <p:txBody>
          <a:bodyPr>
            <a:normAutofit/>
          </a:bodyPr>
          <a:lstStyle>
            <a:lvl1pPr>
              <a:defRPr lang="en-US" sz="4400" b="1" kern="1200" dirty="0">
                <a:solidFill>
                  <a:schemeClr val="accent6">
                    <a:lumMod val="7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C4C03-79BF-4B72-BE1D-33D488E1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4476"/>
            <a:ext cx="5157787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08A4F-01DB-4AFC-BFF5-5E4E47A79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434107"/>
            <a:ext cx="5157787" cy="37555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CA68B3-90D4-4AE1-92C3-92D6D4AB81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1508507"/>
            <a:ext cx="5183188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F670F7-AAD9-404B-8BE1-4A907119DD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434107"/>
            <a:ext cx="5183188" cy="37555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978D5-6CB8-48AD-BF92-8401BE904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0709B2-DFEB-4F3F-A442-199AA5AA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9F2200-F1FA-419B-B96F-F405B503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9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FA947-727F-4DC4-B770-E488302A1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FB9EE4-B487-4437-9DC1-FE7EDEE7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B5E66-AE0E-4F6E-B17A-DD2931439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AAAF6-9332-4B78-8CCB-CA7F312DF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32A65-6ED0-4C5D-8BA5-A5D1C48CA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501B3-FF93-47A5-8310-8D9FE166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04E9C-F344-4401-A4D3-9D64BA90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77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1A819-C882-4C16-83D2-F6461E31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14F11-B8CD-42D8-A386-912CDAF27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57BBB-2B40-408B-8512-0C5E3D724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71E84-528E-4743-B7DC-34D6ED8B8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AFD4D-B772-4756-BF3E-EE1D6F0D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9313E-889E-4C3E-A67E-F1839063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18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0A30-9F53-4704-9063-D06B2BFCB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8DAC60-024D-471D-8628-C4BDA16E5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D80F8-7307-4743-B587-52649C5F3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0E7A9-DAA4-4EDC-8114-2F22223CC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7FEA6-BD58-4B40-841E-F6A5EA268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9397C-047F-4B32-9D24-C4F39CC8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55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80F1-F227-4014-8758-4C118F9D6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02EA4-2EE8-4CE0-BF78-294717D8B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21447-63E8-4536-911F-3521DE9E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C317F-8531-4DFE-B392-F58F326A9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6062-D35E-423D-BD4C-E402ACD2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37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362AC-88F4-484D-8918-3B0948452D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7B9FD-6867-4639-A7A4-B75014201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CE222-3165-4D29-BC6B-8E0EF72AC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CAB4F-808A-48FF-9C22-368A2D914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6E08-BC77-4E3F-B39F-DE34F970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08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AE2706-A55B-4778-A305-0E80982FF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D9BB8-CC0E-4400-A32B-A5B5C2244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0E95C-9DE5-41A8-B859-EE3A5BA521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195E2-1CF3-49A4-B7A8-B518A9AF32A2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CED67-D8C9-40D7-ACF6-261BAD048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9FC6C-A5C4-485B-AD53-5E6B64E18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lowchart: Delay 6">
            <a:extLst>
              <a:ext uri="{FF2B5EF4-FFF2-40B4-BE49-F238E27FC236}">
                <a16:creationId xmlns:a16="http://schemas.microsoft.com/office/drawing/2014/main" id="{6EE911C7-D366-4828-B993-5E2C1C1C8F0C}"/>
              </a:ext>
            </a:extLst>
          </p:cNvPr>
          <p:cNvSpPr/>
          <p:nvPr userDrawn="1"/>
        </p:nvSpPr>
        <p:spPr>
          <a:xfrm>
            <a:off x="0" y="0"/>
            <a:ext cx="395416" cy="827903"/>
          </a:xfrm>
          <a:prstGeom prst="flowChartDelay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Thomas Adewumi University">
            <a:extLst>
              <a:ext uri="{FF2B5EF4-FFF2-40B4-BE49-F238E27FC236}">
                <a16:creationId xmlns:a16="http://schemas.microsoft.com/office/drawing/2014/main" id="{35460BC0-FF27-4820-ACE3-823AE372C8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1363" y="10264"/>
            <a:ext cx="848831" cy="85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35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hyperlink" Target="https://www.linkedin.com/in/comsavvy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msavvy.github.io/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github.com/comsavvy" TargetMode="Externa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DC8E4E-58C1-4A71-8FCD-D124AB2539C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372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66DFC-3B19-4AB8-B27C-3901B9B84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9161" y="555387"/>
            <a:ext cx="7386662" cy="1637096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Data Analytics 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600" b="1" i="1" dirty="0">
                <a:solidFill>
                  <a:schemeClr val="accent6">
                    <a:lumMod val="75000"/>
                  </a:schemeClr>
                </a:solidFill>
                <a:latin typeface="Calisto MT" panose="02040603050505030304" pitchFamily="18" charset="0"/>
              </a:rPr>
              <a:t>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08EEA-83DF-4B19-8603-7DF98B7F3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0178" y="4329915"/>
            <a:ext cx="6797008" cy="94769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Learn how to clean, manipulate, visualize, and analyze data in Spreadsheet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82950-EDAD-478E-83D9-5CCEE82108AA}"/>
              </a:ext>
            </a:extLst>
          </p:cNvPr>
          <p:cNvSpPr txBox="1"/>
          <p:nvPr/>
        </p:nvSpPr>
        <p:spPr>
          <a:xfrm>
            <a:off x="99666" y="5843787"/>
            <a:ext cx="30938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nstantia" panose="02030602050306030303" pitchFamily="18" charset="0"/>
              </a:rPr>
              <a:t>Presented by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onstantia" panose="02030602050306030303" pitchFamily="18" charset="0"/>
              </a:rPr>
              <a:t>:</a:t>
            </a:r>
          </a:p>
          <a:p>
            <a:pPr marL="393700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onstantia" panose="02030602050306030303" pitchFamily="18" charset="0"/>
              </a:rPr>
              <a:t>Olusola Ogundepo</a:t>
            </a:r>
          </a:p>
        </p:txBody>
      </p:sp>
      <p:pic>
        <p:nvPicPr>
          <p:cNvPr id="2058" name="Picture 10" descr="Linkedin logo png, Linkedin icon transparent png 18930480 PNG">
            <a:hlinkClick r:id="rId2"/>
            <a:extLst>
              <a:ext uri="{FF2B5EF4-FFF2-40B4-BE49-F238E27FC236}">
                <a16:creationId xmlns:a16="http://schemas.microsoft.com/office/drawing/2014/main" id="{797D0FBB-E2AB-461E-8F4B-4C79D93F1F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7" r="16453"/>
          <a:stretch/>
        </p:blipFill>
        <p:spPr bwMode="auto">
          <a:xfrm>
            <a:off x="10461518" y="6330145"/>
            <a:ext cx="411965" cy="37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UBC GitHub Instructor Guide | Learning Technology Hub">
            <a:hlinkClick r:id="rId4"/>
            <a:extLst>
              <a:ext uri="{FF2B5EF4-FFF2-40B4-BE49-F238E27FC236}">
                <a16:creationId xmlns:a16="http://schemas.microsoft.com/office/drawing/2014/main" id="{1368CA89-2248-41F8-86D5-DA78EA9BB3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9" r="16951"/>
          <a:stretch/>
        </p:blipFill>
        <p:spPr bwMode="auto">
          <a:xfrm>
            <a:off x="10971381" y="6330145"/>
            <a:ext cx="411965" cy="37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Visit Website Images – Browse 77,523 Stock Photos, Vectors ...">
            <a:hlinkClick r:id="rId6"/>
            <a:extLst>
              <a:ext uri="{FF2B5EF4-FFF2-40B4-BE49-F238E27FC236}">
                <a16:creationId xmlns:a16="http://schemas.microsoft.com/office/drawing/2014/main" id="{819CD115-677C-4627-AED5-7CFF49255F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94" b="17618"/>
          <a:stretch/>
        </p:blipFill>
        <p:spPr bwMode="auto">
          <a:xfrm>
            <a:off x="11383346" y="6331627"/>
            <a:ext cx="808654" cy="37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D88B4E-5823-4C53-A576-40E3BC248848}"/>
              </a:ext>
            </a:extLst>
          </p:cNvPr>
          <p:cNvSpPr txBox="1"/>
          <p:nvPr/>
        </p:nvSpPr>
        <p:spPr>
          <a:xfrm>
            <a:off x="3530531" y="6156747"/>
            <a:ext cx="6089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</a:rPr>
              <a:t>Data scientist who leverages advanced analytics to drive business growth while mentoring future leader in data innovation.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20EABB9-3645-4640-85C2-E9283413C93F}"/>
              </a:ext>
            </a:extLst>
          </p:cNvPr>
          <p:cNvGrpSpPr/>
          <p:nvPr/>
        </p:nvGrpSpPr>
        <p:grpSpPr>
          <a:xfrm>
            <a:off x="2897798" y="2561836"/>
            <a:ext cx="6849388" cy="1201901"/>
            <a:chOff x="2871608" y="2487674"/>
            <a:chExt cx="6849388" cy="1201901"/>
          </a:xfrm>
        </p:grpSpPr>
        <p:pic>
          <p:nvPicPr>
            <p:cNvPr id="2050" name="Picture 2" descr="Excel | Prism">
              <a:extLst>
                <a:ext uri="{FF2B5EF4-FFF2-40B4-BE49-F238E27FC236}">
                  <a16:creationId xmlns:a16="http://schemas.microsoft.com/office/drawing/2014/main" id="{ECA0649F-8F5A-4044-BC27-8047CBA5DA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588" b="21588"/>
            <a:stretch/>
          </p:blipFill>
          <p:spPr bwMode="auto">
            <a:xfrm>
              <a:off x="2871608" y="2487674"/>
              <a:ext cx="3178502" cy="1201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4F087DC9-8C23-4236-9556-732A1FF5F5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6015" y="2487674"/>
              <a:ext cx="2984981" cy="12019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7661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78B48-1EFA-497F-93FE-311C875E8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76528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Module 4</a:t>
            </a:r>
            <a:endParaRPr lang="en-US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8ACB6-D68A-4FFF-B6CD-FDA3C239F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063192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Data Analysis with PivotTables</a:t>
            </a:r>
          </a:p>
          <a:p>
            <a:pPr marL="0" indent="0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Transform raw data into powerful insights using PivotTables, charts, and dashboards in Excel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819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1C38A-1595-4EE5-B4DC-711DE7A3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PivotTables?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C3CA2-F2CA-499A-B5D4-BED624F8A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415"/>
            <a:ext cx="10515600" cy="5003476"/>
          </a:xfrm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/>
              <a:t>What is a PivotTable?</a:t>
            </a:r>
            <a:endParaRPr lang="en-US" sz="2400" dirty="0"/>
          </a:p>
          <a:p>
            <a:pPr>
              <a:lnSpc>
                <a:spcPct val="130000"/>
              </a:lnSpc>
            </a:pPr>
            <a:r>
              <a:rPr lang="en-US" sz="2400" dirty="0"/>
              <a:t>A PivotTable is an interactive Spreadsheet tool used to quickly summarize large datasets.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400" b="1" dirty="0"/>
              <a:t>Benefits:</a:t>
            </a:r>
            <a:endParaRPr lang="en-US" sz="2400" dirty="0"/>
          </a:p>
          <a:p>
            <a:pPr>
              <a:lnSpc>
                <a:spcPct val="130000"/>
              </a:lnSpc>
            </a:pPr>
            <a:r>
              <a:rPr lang="en-US" sz="2400" dirty="0"/>
              <a:t>Simplifies complex data analysis.</a:t>
            </a:r>
          </a:p>
          <a:p>
            <a:pPr>
              <a:lnSpc>
                <a:spcPct val="130000"/>
              </a:lnSpc>
            </a:pPr>
            <a:r>
              <a:rPr lang="en-US" sz="2400" dirty="0"/>
              <a:t>Enables flexible sorting and filtering.</a:t>
            </a:r>
          </a:p>
          <a:p>
            <a:pPr>
              <a:lnSpc>
                <a:spcPct val="130000"/>
              </a:lnSpc>
            </a:pPr>
            <a:r>
              <a:rPr lang="en-US" sz="2400" dirty="0"/>
              <a:t>Provides insights through summarization and grouping.</a:t>
            </a:r>
          </a:p>
        </p:txBody>
      </p:sp>
    </p:spTree>
    <p:extLst>
      <p:ext uri="{BB962C8B-B14F-4D97-AF65-F5344CB8AC3E}">
        <p14:creationId xmlns:p14="http://schemas.microsoft.com/office/powerpoint/2010/main" val="3959152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EB459-7788-4242-9D3D-D83FA0CF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PivotTables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D37E7-6338-40DD-9F1C-321381FD9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Steps to Create a PivotTable: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your data range.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Go to </a:t>
            </a:r>
            <a:r>
              <a:rPr lang="en-US" b="1" dirty="0"/>
              <a:t>Insert &gt; PivotTable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a new worksheet or existing location.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Drag fields into </a:t>
            </a:r>
            <a:r>
              <a:rPr lang="en-US" b="1" dirty="0"/>
              <a:t>Rows, Columns, Values, and Filters</a:t>
            </a:r>
            <a:r>
              <a:rPr lang="en-US" dirty="0"/>
              <a:t> areas.</a:t>
            </a:r>
          </a:p>
          <a:p>
            <a:pPr marL="0" indent="0">
              <a:buNone/>
            </a:pPr>
            <a:r>
              <a:rPr lang="en-US" b="1" dirty="0"/>
              <a:t>Tip:</a:t>
            </a:r>
            <a:r>
              <a:rPr lang="en-US" dirty="0"/>
              <a:t> Ensure your data is structured with headers and no blank rows/columns.</a:t>
            </a:r>
          </a:p>
        </p:txBody>
      </p:sp>
    </p:spTree>
    <p:extLst>
      <p:ext uri="{BB962C8B-B14F-4D97-AF65-F5344CB8AC3E}">
        <p14:creationId xmlns:p14="http://schemas.microsoft.com/office/powerpoint/2010/main" val="311282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3C5A-947F-4100-8922-60F40D1F7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120745" cy="1325563"/>
          </a:xfrm>
        </p:spPr>
        <p:txBody>
          <a:bodyPr/>
          <a:lstStyle/>
          <a:p>
            <a:r>
              <a:rPr lang="en-US" dirty="0"/>
              <a:t>Sorting, Filtering &amp; Summarizing in PivotTables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822ED-96CE-4E99-81E8-D8F55F239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42656"/>
            <a:ext cx="11035145" cy="4765962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/>
              <a:t>Sorting Data:</a:t>
            </a:r>
            <a:endParaRPr lang="en-US" sz="2400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Sort values alphabetically or numerically in rows or columns.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/>
              <a:t>Filtering Data:</a:t>
            </a:r>
            <a:endParaRPr lang="en-US" sz="2400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Use the </a:t>
            </a:r>
            <a:r>
              <a:rPr lang="en-US" sz="2400" b="1" dirty="0"/>
              <a:t>Filter</a:t>
            </a:r>
            <a:r>
              <a:rPr lang="en-US" sz="2400" dirty="0"/>
              <a:t> or </a:t>
            </a:r>
            <a:r>
              <a:rPr lang="en-US" sz="2400" b="1" dirty="0"/>
              <a:t>Slicer</a:t>
            </a:r>
            <a:r>
              <a:rPr lang="en-US" sz="2400" dirty="0"/>
              <a:t> to refine your view.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/>
              <a:t>Summarizing Data:</a:t>
            </a:r>
            <a:endParaRPr lang="en-US" sz="2400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Sum, Count, Average, Max, Min, etc., based on numeric fields.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Change aggregation function via </a:t>
            </a:r>
            <a:r>
              <a:rPr lang="en-US" sz="2400" b="1" dirty="0"/>
              <a:t>Value Field Settings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288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30133-3FF1-4AAC-BE94-E2EDF971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Calculated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34E70-D084-48A1-B01A-E6AF5D613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74415"/>
            <a:ext cx="10910455" cy="516533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What is a Calculated Field?</a:t>
            </a:r>
            <a:endParaRPr lang="en-US" sz="24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 custom field derived from existing data fields using formulas.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Example:</a:t>
            </a:r>
            <a:endParaRPr lang="en-US" sz="24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Profit = Sales – Cost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Steps: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Select the PivotTable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Go to </a:t>
            </a:r>
            <a:r>
              <a:rPr lang="en-US" sz="2400" b="1" dirty="0"/>
              <a:t>PivotTable Analyze &gt; Fields, Items, &amp; Sets &gt; Calculated Field</a:t>
            </a:r>
            <a:endParaRPr lang="en-US" sz="2400" dirty="0"/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Define formula and click OK.</a:t>
            </a:r>
          </a:p>
        </p:txBody>
      </p:sp>
    </p:spTree>
    <p:extLst>
      <p:ext uri="{BB962C8B-B14F-4D97-AF65-F5344CB8AC3E}">
        <p14:creationId xmlns:p14="http://schemas.microsoft.com/office/powerpoint/2010/main" val="3408707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DA0A-6C73-4401-AAAD-36C49C0F5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Charting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B3084-90E8-4D50-9A97-76A4DB121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555839"/>
            <a:ext cx="5590309" cy="4621124"/>
          </a:xfrm>
        </p:spPr>
        <p:txBody>
          <a:bodyPr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2400" b="1" dirty="0"/>
              <a:t>Basic Excel Charts:</a:t>
            </a:r>
            <a:endParaRPr lang="en-US" sz="2400" dirty="0"/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Bar Charts</a:t>
            </a:r>
            <a:r>
              <a:rPr lang="en-US" sz="2400" dirty="0"/>
              <a:t> – Compare categorical data.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Line Charts</a:t>
            </a:r>
            <a:r>
              <a:rPr lang="en-US" sz="2400" dirty="0"/>
              <a:t> – Show trends over time.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Pie Charts</a:t>
            </a:r>
            <a:r>
              <a:rPr lang="en-US" sz="2400" dirty="0"/>
              <a:t> – Show proportions of a whole.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Scatter Plots</a:t>
            </a:r>
            <a:r>
              <a:rPr lang="en-US" sz="2400" dirty="0"/>
              <a:t> – Show correlation between variables.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20E2C-ABBE-4213-994E-811900781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0908" y="1555839"/>
            <a:ext cx="5181600" cy="4621124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2400" b="1" dirty="0"/>
              <a:t>Chart Best Practices:</a:t>
            </a:r>
            <a:endParaRPr lang="en-US" sz="2400" dirty="0"/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Choose the right chart type for your data.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Use colors to differentiate categories clearly.</a:t>
            </a:r>
          </a:p>
        </p:txBody>
      </p:sp>
    </p:spTree>
    <p:extLst>
      <p:ext uri="{BB962C8B-B14F-4D97-AF65-F5344CB8AC3E}">
        <p14:creationId xmlns:p14="http://schemas.microsoft.com/office/powerpoint/2010/main" val="2507982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CA6E3-2DD8-4771-9114-E24385FDC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Charts for Better </a:t>
            </a:r>
            <a:r>
              <a:rPr lang="en-US" dirty="0" err="1"/>
              <a:t>Visualisation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268941-2327-4C9E-8850-A06B07E042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Chart Enhancements:</a:t>
            </a:r>
            <a:endParaRPr lang="en-US" sz="2400" dirty="0"/>
          </a:p>
          <a:p>
            <a:r>
              <a:rPr lang="en-US" sz="2400" dirty="0"/>
              <a:t>Add clear </a:t>
            </a:r>
            <a:r>
              <a:rPr lang="en-US" sz="2400" b="1" dirty="0"/>
              <a:t>titles</a:t>
            </a:r>
            <a:r>
              <a:rPr lang="en-US" sz="2400" dirty="0"/>
              <a:t> and </a:t>
            </a:r>
            <a:r>
              <a:rPr lang="en-US" sz="2400" b="1" dirty="0"/>
              <a:t>labels</a:t>
            </a:r>
            <a:r>
              <a:rPr lang="en-US" sz="2400" dirty="0"/>
              <a:t>.</a:t>
            </a:r>
          </a:p>
          <a:p>
            <a:r>
              <a:rPr lang="en-US" sz="2400" dirty="0"/>
              <a:t>Include </a:t>
            </a:r>
            <a:r>
              <a:rPr lang="en-US" sz="2400" b="1" dirty="0"/>
              <a:t>legends</a:t>
            </a:r>
            <a:r>
              <a:rPr lang="en-US" sz="2400" dirty="0"/>
              <a:t> to identify categories.</a:t>
            </a:r>
          </a:p>
          <a:p>
            <a:r>
              <a:rPr lang="en-US" sz="2400" dirty="0"/>
              <a:t>Format axes for readability.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6DAD87-EADF-4122-8E7E-51F74DFCA7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Steps: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Click on the chart.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Use </a:t>
            </a:r>
            <a:r>
              <a:rPr lang="en-US" sz="2400" b="1" dirty="0"/>
              <a:t>Chart Design</a:t>
            </a:r>
            <a:r>
              <a:rPr lang="en-US" sz="2400" dirty="0"/>
              <a:t> and </a:t>
            </a:r>
            <a:r>
              <a:rPr lang="en-US" sz="2400" b="1" dirty="0"/>
              <a:t>Format</a:t>
            </a:r>
            <a:r>
              <a:rPr lang="en-US" sz="2400" dirty="0"/>
              <a:t> tabs for styling.</a:t>
            </a:r>
          </a:p>
        </p:txBody>
      </p:sp>
    </p:spTree>
    <p:extLst>
      <p:ext uri="{BB962C8B-B14F-4D97-AF65-F5344CB8AC3E}">
        <p14:creationId xmlns:p14="http://schemas.microsoft.com/office/powerpoint/2010/main" val="2027071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89F02-6C76-47D0-9990-B3821B406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PivotCharts</a:t>
            </a:r>
            <a:r>
              <a:rPr lang="en-US" dirty="0"/>
              <a:t> – Visualizing PivotTables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D5452-A608-4394-A098-F52D66E93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74415"/>
            <a:ext cx="10813473" cy="469867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What is a PivotChart?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A dynamic chart that visualizes PivotTable data.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Automatically updates when the PivotTable changes.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How to Create:</a:t>
            </a:r>
            <a:endParaRPr lang="en-US" sz="24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Select your PivotTable.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Go to </a:t>
            </a:r>
            <a:r>
              <a:rPr lang="en-US" sz="2400" b="1" dirty="0"/>
              <a:t>Insert &gt; PivotChart</a:t>
            </a:r>
            <a:r>
              <a:rPr lang="en-US" sz="2400" dirty="0"/>
              <a:t>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Choose the chart type and customize.</a:t>
            </a:r>
          </a:p>
        </p:txBody>
      </p:sp>
    </p:spTree>
    <p:extLst>
      <p:ext uri="{BB962C8B-B14F-4D97-AF65-F5344CB8AC3E}">
        <p14:creationId xmlns:p14="http://schemas.microsoft.com/office/powerpoint/2010/main" val="2293966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307AD-3107-426B-BAA3-2E3A4CEA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Dashboards in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15FD2-D452-496A-A606-3C9051A5ED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55839"/>
            <a:ext cx="5936673" cy="52512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What is a Dashboard?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visual interface that displays key data insights at a glance.</a:t>
            </a:r>
          </a:p>
          <a:p>
            <a:pPr marL="0" indent="0">
              <a:buNone/>
            </a:pPr>
            <a:r>
              <a:rPr lang="en-US" b="1" dirty="0"/>
              <a:t>Dashboard Components: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PivotTables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PivotCharts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Slicers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Interactive controls (buttons, dropdowns)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12233-9765-4831-8B47-C394288F0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93526" y="1555839"/>
            <a:ext cx="4641273" cy="4621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Design Tips: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Keep it clean and user-friendly.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Group related visuals logically.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 color coding sparingly and purposefully.</a:t>
            </a:r>
          </a:p>
        </p:txBody>
      </p:sp>
    </p:spTree>
    <p:extLst>
      <p:ext uri="{BB962C8B-B14F-4D97-AF65-F5344CB8AC3E}">
        <p14:creationId xmlns:p14="http://schemas.microsoft.com/office/powerpoint/2010/main" val="3343730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B2781-7A0A-4640-9367-54ED5F8A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Slicers and Interactive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E403A-9486-41B9-81B0-966DE7744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5515"/>
            <a:ext cx="6352309" cy="5161595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b="1" dirty="0"/>
              <a:t>What are Slicers?</a:t>
            </a:r>
            <a:endParaRPr lang="en-US" dirty="0"/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/>
              <a:t>Visual filters that make it easy to interact with data in PivotTables and </a:t>
            </a:r>
            <a:r>
              <a:rPr lang="en-US" dirty="0" err="1"/>
              <a:t>PivotCharts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b="1" dirty="0"/>
              <a:t>How to Add Slicers:</a:t>
            </a:r>
            <a:endParaRPr lang="en-US" dirty="0"/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/>
              <a:t>Click on a PivotTable.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/>
              <a:t>Go to </a:t>
            </a:r>
            <a:r>
              <a:rPr lang="en-US" b="1" dirty="0"/>
              <a:t>PivotTable Analyze &gt; Insert Slicer</a:t>
            </a:r>
            <a:r>
              <a:rPr lang="en-US" dirty="0"/>
              <a:t>.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/>
              <a:t>Select the fields to slice by.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60663-0951-4375-8228-8DFE25EDC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39891" y="1825624"/>
            <a:ext cx="4433454" cy="4981485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b="1" dirty="0"/>
              <a:t>Benefits:</a:t>
            </a:r>
            <a:endParaRPr lang="en-US" dirty="0"/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Enables dynamic filtering with a single click.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Improves user interactivity in dashboards.</a:t>
            </a:r>
          </a:p>
        </p:txBody>
      </p:sp>
    </p:spTree>
    <p:extLst>
      <p:ext uri="{BB962C8B-B14F-4D97-AF65-F5344CB8AC3E}">
        <p14:creationId xmlns:p14="http://schemas.microsoft.com/office/powerpoint/2010/main" val="3325534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D3160-6B68-4A4E-A4B3-3E4A268E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Storytelling with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C9CE7-BF1D-41DB-BFF7-4E43DF8AA8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46561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Why Storytelling Matters: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audiences connect with your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Converts analysis into action.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Makes presentations more persuasive and memorable.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8D16A-5DE5-48DA-9A33-D751C96D0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7781" y="1825625"/>
            <a:ext cx="5181599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Best Practices: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Know your audience.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Highlight key insights—don’t overwhelm with numbers.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charts and visuals to reinforce your narrative.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Maintain logical flow</a:t>
            </a:r>
            <a:r>
              <a:rPr lang="en-US" dirty="0"/>
              <a:t>: </a:t>
            </a:r>
            <a:r>
              <a:rPr lang="en-US" i="1" dirty="0"/>
              <a:t>Introduction</a:t>
            </a:r>
            <a:r>
              <a:rPr lang="en-US" dirty="0"/>
              <a:t> → </a:t>
            </a:r>
            <a:r>
              <a:rPr lang="en-US" i="1" dirty="0"/>
              <a:t>Insights</a:t>
            </a:r>
            <a:r>
              <a:rPr lang="en-US" dirty="0"/>
              <a:t> → </a:t>
            </a:r>
            <a:r>
              <a:rPr lang="en-US" i="1" dirty="0"/>
              <a:t>Implications</a:t>
            </a:r>
            <a:r>
              <a:rPr lang="en-US" dirty="0"/>
              <a:t> → </a:t>
            </a:r>
            <a:r>
              <a:rPr lang="en-US" i="1" dirty="0"/>
              <a:t>Action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8794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953E-C816-4CE2-ACA3-9D150942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048EFB-0865-43A1-BDA7-398ACB109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PivotTables and </a:t>
            </a:r>
            <a:r>
              <a:rPr lang="en-US" dirty="0" err="1"/>
              <a:t>PivotCharts</a:t>
            </a:r>
            <a:r>
              <a:rPr lang="en-US" dirty="0"/>
              <a:t> turn raw data into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Dashboards offer a concise view of performance indicators.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Effective storytelling improves decision-making and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3861258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BE50-EED8-4EC6-88DF-42248E430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sz="6000" b="1" dirty="0">
                <a:solidFill>
                  <a:schemeClr val="accent5">
                    <a:lumMod val="75000"/>
                  </a:schemeClr>
                </a:solidFill>
              </a:rPr>
              <a:t>Next: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CCA3F-3D4B-4076-B59C-6E24D47C9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496238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E4A13-8CB1-4EC8-9375-B88308FB5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Questions?</a:t>
            </a:r>
            <a:endParaRPr lang="en-US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31D06-9AAC-44FC-8456-8A2A44C3C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4169641" cy="1500187"/>
          </a:xfrm>
        </p:spPr>
        <p:txBody>
          <a:bodyPr/>
          <a:lstStyle/>
          <a:p>
            <a:r>
              <a:rPr lang="en-US" dirty="0">
                <a:latin typeface="+mj-lt"/>
              </a:rPr>
              <a:t>Get clarity to your doubts and be on good standing</a:t>
            </a:r>
          </a:p>
        </p:txBody>
      </p:sp>
    </p:spTree>
    <p:extLst>
      <p:ext uri="{BB962C8B-B14F-4D97-AF65-F5344CB8AC3E}">
        <p14:creationId xmlns:p14="http://schemas.microsoft.com/office/powerpoint/2010/main" val="2345524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645</Words>
  <Application>Microsoft Office PowerPoint</Application>
  <PresentationFormat>Widescreen</PresentationFormat>
  <Paragraphs>105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Calisto MT</vt:lpstr>
      <vt:lpstr>Constantia</vt:lpstr>
      <vt:lpstr>Office Theme</vt:lpstr>
      <vt:lpstr>PowerPoint Presentation</vt:lpstr>
      <vt:lpstr>Data Analytics  in</vt:lpstr>
      <vt:lpstr>Module 4</vt:lpstr>
      <vt:lpstr>Why Use PivotTables?</vt:lpstr>
      <vt:lpstr>Creating PivotTables</vt:lpstr>
      <vt:lpstr>Sorting, Filtering &amp; Summarizing in PivotTables</vt:lpstr>
      <vt:lpstr>Using Calculated Fields</vt:lpstr>
      <vt:lpstr>Introduction to Charting Techniques</vt:lpstr>
      <vt:lpstr>Formatting Charts for Better Visualisation</vt:lpstr>
      <vt:lpstr>PivotCharts – Visualizing PivotTables</vt:lpstr>
      <vt:lpstr>Designing Dashboards in Excel</vt:lpstr>
      <vt:lpstr>Slicers and Interactive Elements</vt:lpstr>
      <vt:lpstr>Storytelling with Data</vt:lpstr>
      <vt:lpstr>Key Takeaways</vt:lpstr>
      <vt:lpstr>Next: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with PivotTables</dc:title>
  <dc:creator>Olusola Timothy Ogundepo</dc:creator>
  <cp:lastModifiedBy>Olusola Timothy Ogundepo</cp:lastModifiedBy>
  <cp:revision>25</cp:revision>
  <dcterms:created xsi:type="dcterms:W3CDTF">2025-02-18T16:48:27Z</dcterms:created>
  <dcterms:modified xsi:type="dcterms:W3CDTF">2025-04-22T11:03:30Z</dcterms:modified>
</cp:coreProperties>
</file>