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8" r:id="rId2"/>
    <p:sldId id="256" r:id="rId3"/>
    <p:sldId id="257" r:id="rId4"/>
    <p:sldId id="264" r:id="rId5"/>
    <p:sldId id="265" r:id="rId6"/>
    <p:sldId id="263" r:id="rId7"/>
    <p:sldId id="258" r:id="rId8"/>
    <p:sldId id="259" r:id="rId9"/>
    <p:sldId id="260" r:id="rId10"/>
    <p:sldId id="261" r:id="rId11"/>
    <p:sldId id="262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37" autoAdjust="0"/>
  </p:normalViewPr>
  <p:slideViewPr>
    <p:cSldViewPr snapToGrid="0">
      <p:cViewPr varScale="1">
        <p:scale>
          <a:sx n="74" d="100"/>
          <a:sy n="74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77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608EF-80A7-4D40-A125-BD77959081C7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F8A00-A666-4254-8829-3A04317D8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75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F8A00-A666-4254-8829-3A04317D85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47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F8A00-A666-4254-8829-3A04317D8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51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F8A00-A666-4254-8829-3A04317D85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78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257EF-AB1A-4512-B3C5-6FC98330B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12167-2674-4185-A2EF-D35AFE994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308E1-055A-4B6F-B60A-836053754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229A-A7D3-4B4C-ACDE-DC798976925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85117-F0E8-43EE-B5B0-1BA6D7DD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252BC-F357-4D9E-AE7F-ACF22BB1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5257-8F36-46BC-8F6E-E362EA67DED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Thomas Adewumi University">
            <a:extLst>
              <a:ext uri="{FF2B5EF4-FFF2-40B4-BE49-F238E27FC236}">
                <a16:creationId xmlns:a16="http://schemas.microsoft.com/office/drawing/2014/main" id="{C627A671-7C7A-48BF-AC08-CF4403AA7D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1363" y="10264"/>
            <a:ext cx="848831" cy="85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549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omas Adewumi University">
            <a:extLst>
              <a:ext uri="{FF2B5EF4-FFF2-40B4-BE49-F238E27FC236}">
                <a16:creationId xmlns:a16="http://schemas.microsoft.com/office/drawing/2014/main" id="{B0FA5B38-8A35-4ACD-9B24-0F52484BD1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1363" y="10264"/>
            <a:ext cx="848831" cy="85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429DD0-9FCD-4A8C-AFB1-6032A3704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763" y="81790"/>
            <a:ext cx="10515600" cy="1064430"/>
          </a:xfrm>
        </p:spPr>
        <p:txBody>
          <a:bodyPr>
            <a:normAutofit/>
          </a:bodyPr>
          <a:lstStyle>
            <a:lvl1pPr>
              <a:defRPr sz="54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C9698-992F-4A13-8233-93015F094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918"/>
            <a:ext cx="10515600" cy="478604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3200"/>
            </a:lvl2pPr>
            <a:lvl3pPr>
              <a:lnSpc>
                <a:spcPct val="100000"/>
              </a:lnSpc>
              <a:defRPr sz="3200"/>
            </a:lvl3pPr>
            <a:lvl4pPr>
              <a:lnSpc>
                <a:spcPct val="100000"/>
              </a:lnSpc>
              <a:defRPr sz="3200"/>
            </a:lvl4pPr>
            <a:lvl5pPr>
              <a:lnSpc>
                <a:spcPct val="100000"/>
              </a:lnSpc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9344B-226A-472E-9AE4-F0CB4469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229A-A7D3-4B4C-ACDE-DC798976925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A032B-4D4C-4090-887F-2E9F0ECFC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51649-A1DF-407E-A364-B60FA57F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5257-8F36-46BC-8F6E-E362EA67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4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D02F-F36C-4733-9CA7-D94A699C4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D6EAC-89E2-4FEA-829C-C476AD89B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67D20-0975-4250-ABD3-4CFA5B20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229A-A7D3-4B4C-ACDE-DC798976925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9DC56-735D-449C-9AA0-9F8F6F0F9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50586-A0BD-46F4-8888-5D49BFE3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5257-8F36-46BC-8F6E-E362EA67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97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B21E-4A20-49DF-BAE7-1D9C1762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BD6A2-F66F-41DF-9493-986E23470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92EBF-8264-49D0-8909-EF2F5AD81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89933-2B3B-4FB5-AC07-63DEF3137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229A-A7D3-4B4C-ACDE-DC798976925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4DEBC-7626-4039-83FC-DF714EA3B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DA32C-F637-45D6-82D0-D73CB374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5257-8F36-46BC-8F6E-E362EA67DED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Thomas Adewumi University">
            <a:extLst>
              <a:ext uri="{FF2B5EF4-FFF2-40B4-BE49-F238E27FC236}">
                <a16:creationId xmlns:a16="http://schemas.microsoft.com/office/drawing/2014/main" id="{0F8BCB2B-FE0D-4782-B7B1-0F86B17A32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1363" y="10264"/>
            <a:ext cx="848831" cy="85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99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58F6D-7209-413C-B55A-A996CA3D8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54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648A5-2AF1-4EEB-BCBC-600E5A295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9DBBE-B3AC-44F6-AF1E-30221BF07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941F5-19E9-491A-A3DE-487263DD9D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8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2FABD-AC25-4388-98E6-F26C18BE4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B8BDD8-9187-4547-A0AF-2ECFFD8B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229A-A7D3-4B4C-ACDE-DC798976925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4B6BB0-1B21-4DE4-B32E-2DC6E848B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BA19AE-D289-4AA9-B783-FC758EFEF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5257-8F36-46BC-8F6E-E362EA67DEDA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Thomas Adewumi University">
            <a:extLst>
              <a:ext uri="{FF2B5EF4-FFF2-40B4-BE49-F238E27FC236}">
                <a16:creationId xmlns:a16="http://schemas.microsoft.com/office/drawing/2014/main" id="{E859BD0E-2F0D-4037-9A6B-08581A4C77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1363" y="10264"/>
            <a:ext cx="848831" cy="85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87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2C49-4F41-4B36-B4AD-C77F7EFC1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8923D4-7F85-4714-96DD-EDBF3A03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229A-A7D3-4B4C-ACDE-DC798976925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2C3DF-7462-4E73-B72E-5AE4A026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3A4F6-00EC-4A3C-AA21-72AC46915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5257-8F36-46BC-8F6E-E362EA67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102959-1BA8-40FC-BE16-4A675DDD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229A-A7D3-4B4C-ACDE-DC798976925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6CC45-AF93-4F10-8DFA-6EAE47ED2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D98C-252A-4EBF-8245-8817910A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5257-8F36-46BC-8F6E-E362EA67DED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Thomas Adewumi University">
            <a:extLst>
              <a:ext uri="{FF2B5EF4-FFF2-40B4-BE49-F238E27FC236}">
                <a16:creationId xmlns:a16="http://schemas.microsoft.com/office/drawing/2014/main" id="{77D09DC1-4589-4E9B-BC5F-791B93AC42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1363" y="10264"/>
            <a:ext cx="848831" cy="85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272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5CD7-3E5F-418A-AAE6-5F38BEC30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9C29B-66E7-43D4-99DC-CDEAEA631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B01CD-1696-4191-B5DA-6D21C48E6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B450A-0FBA-4083-BCB3-A01A4DEB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229A-A7D3-4B4C-ACDE-DC798976925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BFBA0-1DE7-4435-A495-55EB9324A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DC520-EE33-45D2-990A-993837906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5257-8F36-46BC-8F6E-E362EA67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7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B0B7D-0923-450B-87C5-B1DA32449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FD537A-A499-4849-A15C-9466506AB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7128A-10E4-4536-9EA9-BC1442E19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688B3-FD21-403C-8905-6F4469A9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229A-A7D3-4B4C-ACDE-DC798976925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AE7EC-41E6-4E4A-BA86-2F6D9C37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A4931-7ED6-40B0-B69B-360CF56E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5257-8F36-46BC-8F6E-E362EA67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71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DC22-C94D-4966-97A6-DC6BEE1D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C33B5-3C46-4E06-AE95-2CBE70A55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4C220-B979-455D-B486-89FA7E6A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229A-A7D3-4B4C-ACDE-DC798976925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C876B-5FF7-4FBB-BC09-16C60932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6CAA9-A254-45E2-A3FD-1A25D2B9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5257-8F36-46BC-8F6E-E362EA67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D20A3-DFE9-482E-80C7-EE37FB149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FC2F0-4D2B-4D39-8A6D-39657648D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DCD9A-9A25-4AE2-9FAD-C575F8C3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229A-A7D3-4B4C-ACDE-DC798976925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5B454-638C-47B5-8A15-85CE3437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4EE9-FDCB-4A11-99D5-8F433599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5257-8F36-46BC-8F6E-E362EA67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3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552070-3E3E-4B1E-B11A-B759E797E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88CEB-DE5A-417A-BB26-88370AA5A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8AD5F-F80D-456C-90EA-99DA1AFED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A229A-A7D3-4B4C-ACDE-DC798976925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B94F7-1D03-411A-A3F2-4955EB7CD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BAE7A-DBF5-4221-A07C-64E2F0932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75257-8F36-46BC-8F6E-E362EA67DED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4A5B604A-9B79-4B45-AB51-12983C137B9F}"/>
              </a:ext>
            </a:extLst>
          </p:cNvPr>
          <p:cNvSpPr/>
          <p:nvPr userDrawn="1"/>
        </p:nvSpPr>
        <p:spPr>
          <a:xfrm>
            <a:off x="0" y="0"/>
            <a:ext cx="395416" cy="827903"/>
          </a:xfrm>
          <a:prstGeom prst="flowChartDelay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70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hyperlink" Target="https://www.linkedin.com/in/comsavvy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msavvy.github.io/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github.com/comsavvy" TargetMode="Externa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A0EA62-2C10-41B5-B5C3-8EA9A9032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0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59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66DFC-3B19-4AB8-B27C-3901B9B84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161" y="555387"/>
            <a:ext cx="7386662" cy="1637096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Data Analytics 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  <a:latin typeface="Calisto MT" panose="02040603050505030304" pitchFamily="18" charset="0"/>
              </a:rPr>
              <a:t>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08EEA-83DF-4B19-8603-7DF98B7F3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0178" y="4329915"/>
            <a:ext cx="6797008" cy="94769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Learn how to clean, manipulate, visualize, and analyze data in Spreadsheet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82950-EDAD-478E-83D9-5CCEE82108AA}"/>
              </a:ext>
            </a:extLst>
          </p:cNvPr>
          <p:cNvSpPr txBox="1"/>
          <p:nvPr/>
        </p:nvSpPr>
        <p:spPr>
          <a:xfrm>
            <a:off x="99666" y="5843787"/>
            <a:ext cx="30938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Presented by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:</a:t>
            </a:r>
          </a:p>
          <a:p>
            <a:pPr marL="393700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Olusola Ogundepo</a:t>
            </a:r>
          </a:p>
        </p:txBody>
      </p:sp>
      <p:pic>
        <p:nvPicPr>
          <p:cNvPr id="2058" name="Picture 10" descr="Linkedin logo png, Linkedin icon transparent png 18930480 PNG">
            <a:hlinkClick r:id="rId2"/>
            <a:extLst>
              <a:ext uri="{FF2B5EF4-FFF2-40B4-BE49-F238E27FC236}">
                <a16:creationId xmlns:a16="http://schemas.microsoft.com/office/drawing/2014/main" id="{797D0FBB-E2AB-461E-8F4B-4C79D93F1F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7" r="16453"/>
          <a:stretch/>
        </p:blipFill>
        <p:spPr bwMode="auto">
          <a:xfrm>
            <a:off x="10461518" y="6330145"/>
            <a:ext cx="411965" cy="37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UBC GitHub Instructor Guide | Learning Technology Hub">
            <a:hlinkClick r:id="rId4"/>
            <a:extLst>
              <a:ext uri="{FF2B5EF4-FFF2-40B4-BE49-F238E27FC236}">
                <a16:creationId xmlns:a16="http://schemas.microsoft.com/office/drawing/2014/main" id="{1368CA89-2248-41F8-86D5-DA78EA9BB3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9" r="16951"/>
          <a:stretch/>
        </p:blipFill>
        <p:spPr bwMode="auto">
          <a:xfrm>
            <a:off x="10971381" y="6330145"/>
            <a:ext cx="411965" cy="37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Visit Website Images – Browse 77,523 Stock Photos, Vectors ...">
            <a:hlinkClick r:id="rId6"/>
            <a:extLst>
              <a:ext uri="{FF2B5EF4-FFF2-40B4-BE49-F238E27FC236}">
                <a16:creationId xmlns:a16="http://schemas.microsoft.com/office/drawing/2014/main" id="{819CD115-677C-4627-AED5-7CFF49255F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4" b="17618"/>
          <a:stretch/>
        </p:blipFill>
        <p:spPr bwMode="auto">
          <a:xfrm>
            <a:off x="11383346" y="6331627"/>
            <a:ext cx="808654" cy="37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D88B4E-5823-4C53-A576-40E3BC248848}"/>
              </a:ext>
            </a:extLst>
          </p:cNvPr>
          <p:cNvSpPr txBox="1"/>
          <p:nvPr/>
        </p:nvSpPr>
        <p:spPr>
          <a:xfrm>
            <a:off x="3530531" y="6156747"/>
            <a:ext cx="6089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</a:rPr>
              <a:t>Data scientist who leverages advanced analytics to drive business growth while mentoring future leader in data innovation.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20EABB9-3645-4640-85C2-E9283413C93F}"/>
              </a:ext>
            </a:extLst>
          </p:cNvPr>
          <p:cNvGrpSpPr/>
          <p:nvPr/>
        </p:nvGrpSpPr>
        <p:grpSpPr>
          <a:xfrm>
            <a:off x="2897798" y="2561836"/>
            <a:ext cx="6849388" cy="1201901"/>
            <a:chOff x="2871608" y="2487674"/>
            <a:chExt cx="6849388" cy="1201901"/>
          </a:xfrm>
        </p:grpSpPr>
        <p:pic>
          <p:nvPicPr>
            <p:cNvPr id="2050" name="Picture 2" descr="Excel | Prism">
              <a:extLst>
                <a:ext uri="{FF2B5EF4-FFF2-40B4-BE49-F238E27FC236}">
                  <a16:creationId xmlns:a16="http://schemas.microsoft.com/office/drawing/2014/main" id="{ECA0649F-8F5A-4044-BC27-8047CBA5DA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588" b="21588"/>
            <a:stretch/>
          </p:blipFill>
          <p:spPr bwMode="auto">
            <a:xfrm>
              <a:off x="2871608" y="2487674"/>
              <a:ext cx="3178502" cy="1201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4F087DC9-8C23-4236-9556-732A1FF5F5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6015" y="2487674"/>
              <a:ext cx="2984981" cy="1201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7661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8E69-0FD9-40D4-BE84-55B55BCA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D7ECC-F817-4BA8-977E-AD1ED4220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This course introduces learners to data analytics using Microsoft Excel and Google Spreadsheet. Students will learn how to clean, manipulate, visualize, and analyze data using Excel’s built-in tools and Google Spreadsheet.</a:t>
            </a:r>
          </a:p>
        </p:txBody>
      </p:sp>
    </p:spTree>
    <p:extLst>
      <p:ext uri="{BB962C8B-B14F-4D97-AF65-F5344CB8AC3E}">
        <p14:creationId xmlns:p14="http://schemas.microsoft.com/office/powerpoint/2010/main" val="726003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8E69-0FD9-40D4-BE84-55B55BCA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Course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D7ECC-F817-4BA8-977E-AD1ED422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918"/>
            <a:ext cx="10515600" cy="504851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Understand the fundamentals of data analytics.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Learn essential spreadsheet functions for data analysis.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Clean and prepare data for analysis.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Create meaningful data visualizations.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Perform statistical analysis using Microsoft Excel and Google Spreadsheet.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Automate tasks using Excel &amp; Google sheet formulas and PivotTables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179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F4CE-C9D1-4F29-A05C-BB2EAF749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Module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6343-9268-4F66-B924-0F558B5034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Data Analytics in Microsoft Excel and Google Spreadsheet</a:t>
            </a:r>
          </a:p>
        </p:txBody>
      </p:sp>
    </p:spTree>
    <p:extLst>
      <p:ext uri="{BB962C8B-B14F-4D97-AF65-F5344CB8AC3E}">
        <p14:creationId xmlns:p14="http://schemas.microsoft.com/office/powerpoint/2010/main" val="3262576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0661F8-636E-4C76-A3AC-917CCFB3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6" y="148822"/>
            <a:ext cx="10515600" cy="1064430"/>
          </a:xfrm>
        </p:spPr>
        <p:txBody>
          <a:bodyPr anchor="ctr">
            <a:normAutofit fontScale="90000"/>
          </a:bodyPr>
          <a:lstStyle/>
          <a:p>
            <a:pPr algn="l">
              <a:lnSpc>
                <a:spcPct val="100000"/>
              </a:lnSpc>
              <a:spcAft>
                <a:spcPts val="2400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Introduction to Data Analytics &amp; Spreadsheet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E773C30-57C9-4AB5-B645-59FF00CB5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342900" indent="-34290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What is Data Analytics?</a:t>
            </a:r>
          </a:p>
          <a:p>
            <a:pPr marL="342900" indent="-34290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Getting Started with Excel and Google Sheet</a:t>
            </a:r>
          </a:p>
          <a:p>
            <a:pPr marL="342900" indent="-34290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Entering and Formatting Data</a:t>
            </a:r>
          </a:p>
          <a:p>
            <a:pPr marL="342900" indent="-34290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Basic Formulas and Functions</a:t>
            </a:r>
          </a:p>
        </p:txBody>
      </p:sp>
    </p:spTree>
    <p:extLst>
      <p:ext uri="{BB962C8B-B14F-4D97-AF65-F5344CB8AC3E}">
        <p14:creationId xmlns:p14="http://schemas.microsoft.com/office/powerpoint/2010/main" val="4008305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36122-7556-4F54-B778-BE95399C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Data Analytics?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328C1-E180-433D-AA02-CAD9626E1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0918"/>
            <a:ext cx="10871579" cy="524189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400" dirty="0"/>
              <a:t>Data analytics involves analyzing raw data to find trends, patterns, and insights that help in decision-making.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Importance in Business: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Enhances decision-making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Improves operational efficiency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Identifies trends and opportunities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Types of Data: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Structured Data:</a:t>
            </a:r>
            <a:r>
              <a:rPr lang="en-US" sz="2400" dirty="0"/>
              <a:t> Organized data stored in tables (</a:t>
            </a:r>
            <a:r>
              <a:rPr lang="en-US" dirty="0"/>
              <a:t>e.g., Excel, databases</a:t>
            </a:r>
            <a:r>
              <a:rPr lang="en-US" sz="24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Unstructured Data:</a:t>
            </a:r>
            <a:r>
              <a:rPr lang="en-US" sz="2400" dirty="0"/>
              <a:t> Freeform data </a:t>
            </a:r>
            <a:r>
              <a:rPr lang="en-US" dirty="0"/>
              <a:t>(e.g., text, images, videos).</a:t>
            </a:r>
          </a:p>
        </p:txBody>
      </p:sp>
    </p:spTree>
    <p:extLst>
      <p:ext uri="{BB962C8B-B14F-4D97-AF65-F5344CB8AC3E}">
        <p14:creationId xmlns:p14="http://schemas.microsoft.com/office/powerpoint/2010/main" val="31661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6159-D5F7-4192-A455-E466E9B96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763" y="145917"/>
            <a:ext cx="10515600" cy="106443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Getting Started with Spreadsheet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0854D-C02A-4C30-997C-55B63601E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763" y="1145625"/>
            <a:ext cx="10787658" cy="1815882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130000"/>
              </a:lnSpc>
              <a:buNone/>
            </a:pPr>
            <a:endParaRPr lang="en-US" sz="2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800" dirty="0"/>
              <a:t>Microsoft Excel is a powerful spreadsheet application used for data entry, organization, analysis, and visualization.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C5059-813D-4F1F-B4DB-0F94C79E2669}"/>
              </a:ext>
            </a:extLst>
          </p:cNvPr>
          <p:cNvSpPr txBox="1"/>
          <p:nvPr/>
        </p:nvSpPr>
        <p:spPr>
          <a:xfrm>
            <a:off x="815763" y="3215571"/>
            <a:ext cx="6111868" cy="28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Understanding the Excel and Google Spreadsheet Interface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Workbook, Worksheet, and Cells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Ribbon, Tabs, and Groups</a:t>
            </a:r>
          </a:p>
          <a:p>
            <a:pPr marL="457200" indent="-4572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Rows and Columns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8F355A-3B4D-4C42-AB2C-14F49AEAB7E4}"/>
              </a:ext>
            </a:extLst>
          </p:cNvPr>
          <p:cNvSpPr txBox="1">
            <a:spLocks/>
          </p:cNvSpPr>
          <p:nvPr/>
        </p:nvSpPr>
        <p:spPr>
          <a:xfrm>
            <a:off x="6927631" y="3429000"/>
            <a:ext cx="5472448" cy="3103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Basic Operations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dirty="0"/>
              <a:t>Creating and saving a new workbook</a:t>
            </a:r>
          </a:p>
          <a:p>
            <a:r>
              <a:rPr lang="en-US" sz="2800" dirty="0"/>
              <a:t>Opening and closing workbooks</a:t>
            </a:r>
          </a:p>
          <a:p>
            <a:r>
              <a:rPr lang="en-US" sz="2800" dirty="0"/>
              <a:t>Basic navigation and shortcuts</a:t>
            </a:r>
          </a:p>
        </p:txBody>
      </p:sp>
    </p:spTree>
    <p:extLst>
      <p:ext uri="{BB962C8B-B14F-4D97-AF65-F5344CB8AC3E}">
        <p14:creationId xmlns:p14="http://schemas.microsoft.com/office/powerpoint/2010/main" val="265934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7E35-9F76-40D8-8457-35820F0A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Entering and Formatting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7293F-2374-4496-B3A3-75DF49EB7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Entering Data: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Entering text, numbers, and dates in cells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Editing cell contents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Using Autofill and Flash Fill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Formatting Cells: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Font size, color, and styles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Cell alignment (merge, wrap text,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Number formatting (currency, percentage, dates)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Copying, cutting, and pasting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Using the Format Painter</a:t>
            </a:r>
          </a:p>
        </p:txBody>
      </p:sp>
    </p:spTree>
    <p:extLst>
      <p:ext uri="{BB962C8B-B14F-4D97-AF65-F5344CB8AC3E}">
        <p14:creationId xmlns:p14="http://schemas.microsoft.com/office/powerpoint/2010/main" val="4220560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561887-3D9E-41F1-B1AE-3F4BFFF9D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Formulas and Functions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D9969-D9DE-467D-A0C8-41040F11A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3017044"/>
            <a:ext cx="5157787" cy="681499"/>
          </a:xfrm>
        </p:spPr>
        <p:txBody>
          <a:bodyPr anchor="ctr">
            <a:normAutofit/>
          </a:bodyPr>
          <a:lstStyle/>
          <a:p>
            <a:r>
              <a:rPr lang="en-US" sz="2800" b="1" dirty="0"/>
              <a:t>Basic Arithmetic Formulas:</a:t>
            </a:r>
            <a:endParaRPr lang="en-US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83846E-934C-42FF-AE6E-FEAE9A708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3814062"/>
            <a:ext cx="5157787" cy="236855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Addition</a:t>
            </a:r>
            <a:r>
              <a:rPr lang="en-US" dirty="0"/>
              <a:t> (=A1+B1)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Subtraction</a:t>
            </a:r>
            <a:r>
              <a:rPr lang="en-US" dirty="0"/>
              <a:t> (=A1-B1)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Multiplication</a:t>
            </a:r>
            <a:r>
              <a:rPr lang="en-US" dirty="0"/>
              <a:t> (=A1*B1)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Division</a:t>
            </a:r>
            <a:r>
              <a:rPr lang="en-US" dirty="0"/>
              <a:t> (=A1/B1)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2BB545-16D0-474B-917C-C39269DD4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3017044"/>
            <a:ext cx="5183188" cy="681499"/>
          </a:xfrm>
        </p:spPr>
        <p:txBody>
          <a:bodyPr/>
          <a:lstStyle/>
          <a:p>
            <a:r>
              <a:rPr lang="en-US" b="1" dirty="0"/>
              <a:t>Common Functions: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CF8A7A-CABA-4103-B2C1-05BF78AC5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814062"/>
            <a:ext cx="5534696" cy="236855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SUM()</a:t>
            </a:r>
            <a:r>
              <a:rPr lang="en-US" dirty="0"/>
              <a:t> - Adds a range of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AVERAGE()</a:t>
            </a:r>
            <a:r>
              <a:rPr lang="en-US" dirty="0"/>
              <a:t> - Calculates the mean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MIN()</a:t>
            </a:r>
            <a:r>
              <a:rPr lang="en-US" dirty="0"/>
              <a:t> - Finds the minimum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MAX()</a:t>
            </a:r>
            <a:r>
              <a:rPr lang="en-US" dirty="0"/>
              <a:t> - Finds the maximum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COUNT()</a:t>
            </a:r>
            <a:r>
              <a:rPr lang="en-US" dirty="0"/>
              <a:t> - Counts the number of entries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453BBB-12E2-4CE1-880A-F0583F22DEA2}"/>
              </a:ext>
            </a:extLst>
          </p:cNvPr>
          <p:cNvSpPr txBox="1"/>
          <p:nvPr/>
        </p:nvSpPr>
        <p:spPr>
          <a:xfrm>
            <a:off x="836612" y="1613584"/>
            <a:ext cx="10870284" cy="123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Introduction to Formulas and Functions</a:t>
            </a:r>
            <a:r>
              <a:rPr lang="en-US" sz="2800" b="1" dirty="0"/>
              <a:t>:</a:t>
            </a:r>
            <a:endParaRPr lang="en-US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Understanding cell references (Relative vs. Absolute)</a:t>
            </a:r>
          </a:p>
        </p:txBody>
      </p:sp>
    </p:spTree>
    <p:extLst>
      <p:ext uri="{BB962C8B-B14F-4D97-AF65-F5344CB8AC3E}">
        <p14:creationId xmlns:p14="http://schemas.microsoft.com/office/powerpoint/2010/main" val="37584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7" grpId="0" build="p"/>
      <p:bldP spid="8" grpId="0" uiExpand="1" build="p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2296B5-720F-4FC7-98D0-FD1F55FD2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Takeaways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BF28F9-84AF-406C-9361-D3C8A5A0D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918"/>
            <a:ext cx="10515600" cy="50742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Data analytics helps businesses make informed decisions.</a:t>
            </a:r>
          </a:p>
          <a:p>
            <a:pPr>
              <a:lnSpc>
                <a:spcPct val="150000"/>
              </a:lnSpc>
            </a:pPr>
            <a:r>
              <a:rPr lang="en-US" dirty="0"/>
              <a:t>Microsoft Excel provides essential tools for data manipulation and analysis.</a:t>
            </a:r>
          </a:p>
          <a:p>
            <a:pPr>
              <a:lnSpc>
                <a:spcPct val="150000"/>
              </a:lnSpc>
            </a:pPr>
            <a:r>
              <a:rPr lang="en-US" dirty="0"/>
              <a:t>Understanding basic functions and formulas is the foundation for advanced data analysis.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156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2296B5-720F-4FC7-98D0-FD1F55FD2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Next Module: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BF28F9-84AF-406C-9361-D3C8A5A0D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Deeper exploration of Excel functions and data cleaning techniques.</a:t>
            </a:r>
          </a:p>
        </p:txBody>
      </p:sp>
    </p:spTree>
    <p:extLst>
      <p:ext uri="{BB962C8B-B14F-4D97-AF65-F5344CB8AC3E}">
        <p14:creationId xmlns:p14="http://schemas.microsoft.com/office/powerpoint/2010/main" val="429371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2296B5-720F-4FC7-98D0-FD1F55FD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6726"/>
            <a:ext cx="10515600" cy="2852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Questions?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BF28F9-84AF-406C-9361-D3C8A5A0D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3882040" cy="1500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j-lt"/>
              </a:rPr>
              <a:t>Get clarity to your doubts and be on good standing</a:t>
            </a:r>
          </a:p>
        </p:txBody>
      </p:sp>
    </p:spTree>
    <p:extLst>
      <p:ext uri="{BB962C8B-B14F-4D97-AF65-F5344CB8AC3E}">
        <p14:creationId xmlns:p14="http://schemas.microsoft.com/office/powerpoint/2010/main" val="1507244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510</Words>
  <Application>Microsoft Office PowerPoint</Application>
  <PresentationFormat>Widescreen</PresentationFormat>
  <Paragraphs>77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Calisto MT</vt:lpstr>
      <vt:lpstr>Constantia</vt:lpstr>
      <vt:lpstr>Office Theme</vt:lpstr>
      <vt:lpstr>PowerPoint Presentation</vt:lpstr>
      <vt:lpstr>Data Analytics  in</vt:lpstr>
      <vt:lpstr>Introduction</vt:lpstr>
      <vt:lpstr>Course Objectives</vt:lpstr>
      <vt:lpstr>Module 1</vt:lpstr>
      <vt:lpstr>Introduction to Data Analytics &amp; Spreadsheet</vt:lpstr>
      <vt:lpstr>What is Data Analytics?</vt:lpstr>
      <vt:lpstr>Getting Started with Spreadsheet</vt:lpstr>
      <vt:lpstr>Entering and Formatting Data</vt:lpstr>
      <vt:lpstr>Basic Formulas and Functions</vt:lpstr>
      <vt:lpstr>Key Takeaways</vt:lpstr>
      <vt:lpstr>Next Module: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Using Microsoft Excel</dc:title>
  <dc:creator>Olusola Timothy Ogundepo</dc:creator>
  <cp:lastModifiedBy>Olusola Timothy Ogundepo</cp:lastModifiedBy>
  <cp:revision>13</cp:revision>
  <dcterms:created xsi:type="dcterms:W3CDTF">2025-02-18T09:10:05Z</dcterms:created>
  <dcterms:modified xsi:type="dcterms:W3CDTF">2025-03-17T14:04:09Z</dcterms:modified>
</cp:coreProperties>
</file>